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5" r:id="rId2"/>
    <p:sldId id="256" r:id="rId3"/>
    <p:sldId id="257" r:id="rId4"/>
    <p:sldId id="258" r:id="rId5"/>
    <p:sldId id="259" r:id="rId6"/>
    <p:sldId id="260" r:id="rId7"/>
    <p:sldId id="261" r:id="rId8"/>
    <p:sldId id="267" r:id="rId9"/>
    <p:sldId id="262" r:id="rId10"/>
    <p:sldId id="264"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77" y="49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83E06A-9AD9-4356-A5DE-25BAA007FEDF}" type="datetimeFigureOut">
              <a:rPr lang="tr-TR" smtClean="0"/>
              <a:t>29.11.2025</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D05402-FD13-4606-A9F8-6356D60137F3}" type="slidenum">
              <a:rPr lang="tr-TR" smtClean="0"/>
              <a:t>‹#›</a:t>
            </a:fld>
            <a:endParaRPr lang="tr-TR"/>
          </a:p>
        </p:txBody>
      </p:sp>
    </p:spTree>
    <p:extLst>
      <p:ext uri="{BB962C8B-B14F-4D97-AF65-F5344CB8AC3E}">
        <p14:creationId xmlns:p14="http://schemas.microsoft.com/office/powerpoint/2010/main" val="3721403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33D05402-FD13-4606-A9F8-6356D60137F3}" type="slidenum">
              <a:rPr lang="tr-TR" smtClean="0"/>
              <a:t>9</a:t>
            </a:fld>
            <a:endParaRPr lang="tr-TR"/>
          </a:p>
        </p:txBody>
      </p:sp>
    </p:spTree>
    <p:extLst>
      <p:ext uri="{BB962C8B-B14F-4D97-AF65-F5344CB8AC3E}">
        <p14:creationId xmlns:p14="http://schemas.microsoft.com/office/powerpoint/2010/main" val="2579310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xmlns="" id="{22361036-2C2A-A293-77D3-E00996726051}"/>
              </a:ext>
            </a:extLst>
          </p:cNvPr>
          <p:cNvSpPr>
            <a:spLocks noGrp="1"/>
          </p:cNvSpPr>
          <p:nvPr>
            <p:ph type="ctrTitle" idx="4294967295"/>
          </p:nvPr>
        </p:nvSpPr>
        <p:spPr>
          <a:xfrm>
            <a:off x="319862" y="2548089"/>
            <a:ext cx="8420100" cy="1335881"/>
          </a:xfrm>
        </p:spPr>
        <p:txBody>
          <a:bodyPr>
            <a:noAutofit/>
          </a:bodyPr>
          <a:lstStyle/>
          <a:p>
            <a:r>
              <a:rPr lang="tr-TR" sz="2800" b="1" dirty="0" smtClean="0">
                <a:latin typeface="Times New Roman" panose="02020603050405020304" pitchFamily="18" charset="0"/>
                <a:cs typeface="Times New Roman" panose="02020603050405020304" pitchFamily="18" charset="0"/>
              </a:rPr>
              <a:t>TİCARİ </a:t>
            </a:r>
            <a:r>
              <a:rPr lang="tr-TR" sz="2800" b="1" dirty="0">
                <a:latin typeface="Times New Roman" panose="02020603050405020304" pitchFamily="18" charset="0"/>
                <a:cs typeface="Times New Roman" panose="02020603050405020304" pitchFamily="18" charset="0"/>
              </a:rPr>
              <a:t>ARAÇLARDA 24 V SİSTEMLERDE ISO 7637-2 GEÇİCİ KOŞULLARI ALTINDA OTOMOTİV TİPİ FIRÇALI DC MOTORUN LTSPICE TABANLI ANALİZİ</a:t>
            </a: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endParaRPr lang="tr-TR" sz="2800" b="1" dirty="0">
              <a:latin typeface="Times New Roman" panose="02020603050405020304" pitchFamily="18" charset="0"/>
              <a:cs typeface="Times New Roman" panose="02020603050405020304" pitchFamily="18" charset="0"/>
            </a:endParaRPr>
          </a:p>
        </p:txBody>
      </p:sp>
      <p:sp>
        <p:nvSpPr>
          <p:cNvPr id="5" name="Metin kutusu 4">
            <a:extLst>
              <a:ext uri="{FF2B5EF4-FFF2-40B4-BE49-F238E27FC236}">
                <a16:creationId xmlns:a16="http://schemas.microsoft.com/office/drawing/2014/main" xmlns="" id="{75E24201-6E6C-C887-0C05-8225FFFE9375}"/>
              </a:ext>
            </a:extLst>
          </p:cNvPr>
          <p:cNvSpPr txBox="1"/>
          <p:nvPr/>
        </p:nvSpPr>
        <p:spPr>
          <a:xfrm>
            <a:off x="2150420" y="4735682"/>
            <a:ext cx="5003666" cy="1415772"/>
          </a:xfrm>
          <a:prstGeom prst="rect">
            <a:avLst/>
          </a:prstGeom>
          <a:noFill/>
        </p:spPr>
        <p:txBody>
          <a:bodyPr wrap="square" rtlCol="0">
            <a:spAutoFit/>
          </a:bodyPr>
          <a:lstStyle/>
          <a:p>
            <a:pPr algn="ctr"/>
            <a:r>
              <a:rPr lang="tr-TR" sz="2000" b="1" dirty="0">
                <a:latin typeface="Times New Roman" panose="02020603050405020304" pitchFamily="18" charset="0"/>
                <a:cs typeface="Times New Roman" panose="02020603050405020304" pitchFamily="18" charset="0"/>
              </a:rPr>
              <a:t>Buğra E</a:t>
            </a:r>
            <a:r>
              <a:rPr lang="en-US" sz="2000" b="1" dirty="0">
                <a:latin typeface="Times New Roman" panose="02020603050405020304" pitchFamily="18" charset="0"/>
                <a:cs typeface="Times New Roman" panose="02020603050405020304" pitchFamily="18" charset="0"/>
              </a:rPr>
              <a:t>R</a:t>
            </a:r>
            <a:r>
              <a:rPr lang="tr-TR" sz="20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Okan BİNGÖL</a:t>
            </a:r>
            <a:endParaRPr lang="tr-TR" sz="2000" b="1" dirty="0">
              <a:latin typeface="Times New Roman" panose="02020603050405020304" pitchFamily="18" charset="0"/>
              <a:cs typeface="Times New Roman" panose="02020603050405020304" pitchFamily="18" charset="0"/>
            </a:endParaRPr>
          </a:p>
          <a:p>
            <a:pPr algn="ctr"/>
            <a:endParaRPr lang="tr-TR" sz="1600" b="1" dirty="0">
              <a:latin typeface="Times New Roman" panose="02020603050405020304" pitchFamily="18" charset="0"/>
              <a:cs typeface="Times New Roman" panose="02020603050405020304" pitchFamily="18" charset="0"/>
            </a:endParaRPr>
          </a:p>
          <a:p>
            <a:pPr algn="ctr"/>
            <a:endParaRPr lang="tr-TR" sz="1600" b="1" dirty="0" smtClean="0">
              <a:latin typeface="Times New Roman" panose="02020603050405020304" pitchFamily="18" charset="0"/>
              <a:cs typeface="Times New Roman" panose="02020603050405020304" pitchFamily="18" charset="0"/>
            </a:endParaRPr>
          </a:p>
          <a:p>
            <a:pPr algn="ctr"/>
            <a:endParaRPr lang="tr-TR" sz="1600" b="1" dirty="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Antalya</a:t>
            </a:r>
            <a:r>
              <a:rPr lang="tr-TR" dirty="0" smtClean="0">
                <a:latin typeface="Times New Roman" panose="02020603050405020304" pitchFamily="18" charset="0"/>
                <a:cs typeface="Times New Roman" panose="02020603050405020304" pitchFamily="18" charset="0"/>
              </a:rPr>
              <a:t>, 2025</a:t>
            </a:r>
            <a:endParaRPr lang="tr-TR" b="1" dirty="0">
              <a:latin typeface="Times New Roman" panose="02020603050405020304" pitchFamily="18" charset="0"/>
              <a:cs typeface="Times New Roman" panose="02020603050405020304" pitchFamily="18" charset="0"/>
            </a:endParaRPr>
          </a:p>
        </p:txBody>
      </p:sp>
      <p:cxnSp>
        <p:nvCxnSpPr>
          <p:cNvPr id="6" name="AutoShape 132">
            <a:extLst>
              <a:ext uri="{FF2B5EF4-FFF2-40B4-BE49-F238E27FC236}">
                <a16:creationId xmlns:a16="http://schemas.microsoft.com/office/drawing/2014/main" xmlns="" id="{C360B360-B4E2-0FD4-F789-69918F13D7F8}"/>
              </a:ext>
            </a:extLst>
          </p:cNvPr>
          <p:cNvCxnSpPr>
            <a:cxnSpLocks noChangeShapeType="1"/>
          </p:cNvCxnSpPr>
          <p:nvPr/>
        </p:nvCxnSpPr>
        <p:spPr bwMode="auto">
          <a:xfrm>
            <a:off x="400115" y="1807121"/>
            <a:ext cx="8504277" cy="0"/>
          </a:xfrm>
          <a:prstGeom prst="straightConnector1">
            <a:avLst/>
          </a:prstGeom>
          <a:noFill/>
          <a:ln w="38100">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28398" dir="3806097" algn="ctr" rotWithShape="0">
                    <a:srgbClr val="7F7F7F">
                      <a:alpha val="50000"/>
                    </a:srgbClr>
                  </a:outerShdw>
                </a:effectLst>
              </a14:hiddenEffects>
            </a:ext>
          </a:extLst>
        </p:spPr>
      </p:cxnSp>
      <p:pic>
        <p:nvPicPr>
          <p:cNvPr id="4" name="Resim 3"/>
          <p:cNvPicPr>
            <a:picLocks noChangeAspect="1"/>
          </p:cNvPicPr>
          <p:nvPr/>
        </p:nvPicPr>
        <p:blipFill>
          <a:blip r:embed="rId2"/>
          <a:stretch>
            <a:fillRect/>
          </a:stretch>
        </p:blipFill>
        <p:spPr>
          <a:xfrm>
            <a:off x="400111" y="496498"/>
            <a:ext cx="880959" cy="1147396"/>
          </a:xfrm>
          <a:prstGeom prst="rect">
            <a:avLst/>
          </a:prstGeom>
        </p:spPr>
      </p:pic>
      <p:pic>
        <p:nvPicPr>
          <p:cNvPr id="7" name="Resim 6"/>
          <p:cNvPicPr>
            <a:picLocks noChangeAspect="1"/>
          </p:cNvPicPr>
          <p:nvPr/>
        </p:nvPicPr>
        <p:blipFill>
          <a:blip r:embed="rId3"/>
          <a:stretch>
            <a:fillRect/>
          </a:stretch>
        </p:blipFill>
        <p:spPr>
          <a:xfrm>
            <a:off x="8079885" y="540146"/>
            <a:ext cx="748307" cy="1060100"/>
          </a:xfrm>
          <a:prstGeom prst="rect">
            <a:avLst/>
          </a:prstGeom>
        </p:spPr>
      </p:pic>
      <p:sp>
        <p:nvSpPr>
          <p:cNvPr id="8" name="Dikdörtgen 7"/>
          <p:cNvSpPr/>
          <p:nvPr/>
        </p:nvSpPr>
        <p:spPr>
          <a:xfrm>
            <a:off x="2366253" y="608531"/>
            <a:ext cx="4572000" cy="923330"/>
          </a:xfrm>
          <a:prstGeom prst="rect">
            <a:avLst/>
          </a:prstGeom>
        </p:spPr>
        <p:txBody>
          <a:bodyPr>
            <a:spAutoFit/>
          </a:bodyPr>
          <a:lstStyle/>
          <a:p>
            <a:pPr algn="ctr"/>
            <a:r>
              <a:rPr lang="tr-TR" b="1" dirty="0">
                <a:latin typeface="Times New Roman" panose="02020603050405020304" pitchFamily="18" charset="0"/>
                <a:cs typeface="Times New Roman" panose="02020603050405020304" pitchFamily="18" charset="0"/>
              </a:rPr>
              <a:t>6. BİLSEL INTERNATIONAL ASPENDOS</a:t>
            </a:r>
            <a:br>
              <a:rPr lang="tr-TR" b="1" dirty="0">
                <a:latin typeface="Times New Roman" panose="02020603050405020304" pitchFamily="18" charset="0"/>
                <a:cs typeface="Times New Roman" panose="02020603050405020304" pitchFamily="18" charset="0"/>
              </a:rPr>
            </a:br>
            <a:r>
              <a:rPr lang="tr-TR" b="1" dirty="0">
                <a:latin typeface="Times New Roman" panose="02020603050405020304" pitchFamily="18" charset="0"/>
                <a:cs typeface="Times New Roman" panose="02020603050405020304" pitchFamily="18" charset="0"/>
              </a:rPr>
              <a:t>SCIENTIFIC RESEARCHES</a:t>
            </a:r>
            <a:br>
              <a:rPr lang="tr-TR" b="1" dirty="0">
                <a:latin typeface="Times New Roman" panose="02020603050405020304" pitchFamily="18" charset="0"/>
                <a:cs typeface="Times New Roman" panose="02020603050405020304" pitchFamily="18" charset="0"/>
              </a:rPr>
            </a:br>
            <a:r>
              <a:rPr lang="tr-TR" b="1" dirty="0">
                <a:latin typeface="Times New Roman" panose="02020603050405020304" pitchFamily="18" charset="0"/>
                <a:cs typeface="Times New Roman" panose="02020603050405020304" pitchFamily="18" charset="0"/>
              </a:rPr>
              <a:t>CONGRESS</a:t>
            </a:r>
            <a:endParaRPr lang="en-US" b="1" dirty="0"/>
          </a:p>
        </p:txBody>
      </p:sp>
    </p:spTree>
    <p:extLst>
      <p:ext uri="{BB962C8B-B14F-4D97-AF65-F5344CB8AC3E}">
        <p14:creationId xmlns:p14="http://schemas.microsoft.com/office/powerpoint/2010/main" val="7931387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48685"/>
            <a:ext cx="9220200" cy="1143000"/>
          </a:xfrm>
        </p:spPr>
        <p:txBody>
          <a:bodyPr vert="horz" lIns="91440" tIns="45720" rIns="91440" bIns="45720" rtlCol="0" anchor="ctr">
            <a:normAutofit/>
          </a:bodyPr>
          <a:lstStyle/>
          <a:p>
            <a:r>
              <a:rPr lang="en-US" sz="3200" b="1" dirty="0">
                <a:solidFill>
                  <a:srgbClr val="FFFFFF"/>
                </a:solidFill>
              </a:rPr>
              <a:t>GİRİŞ</a:t>
            </a:r>
          </a:p>
        </p:txBody>
      </p:sp>
      <p:sp>
        <p:nvSpPr>
          <p:cNvPr id="6" name="Dikdörtgen 5"/>
          <p:cNvSpPr/>
          <p:nvPr/>
        </p:nvSpPr>
        <p:spPr>
          <a:xfrm>
            <a:off x="524933" y="1072001"/>
            <a:ext cx="8263467" cy="2062103"/>
          </a:xfrm>
          <a:prstGeom prst="rect">
            <a:avLst/>
          </a:prstGeom>
        </p:spPr>
        <p:txBody>
          <a:bodyPr vert="horz" lIns="91440" tIns="45720" rIns="91440" bIns="45720" rtlCol="0">
            <a:noAutofit/>
          </a:bodyPr>
          <a:lstStyle/>
          <a:p>
            <a:pPr algn="just">
              <a:spcBef>
                <a:spcPct val="20000"/>
              </a:spcBef>
              <a:buFont typeface="Arial"/>
              <a:buNone/>
            </a:pPr>
            <a:r>
              <a:rPr lang="tr-TR" sz="1600" dirty="0">
                <a:solidFill>
                  <a:schemeClr val="bg1"/>
                </a:solidFill>
                <a:latin typeface="Times New Roman" panose="02020603050405020304" pitchFamily="18" charset="0"/>
                <a:cs typeface="Times New Roman" panose="02020603050405020304" pitchFamily="18" charset="0"/>
              </a:rPr>
              <a:t>ISO 7637-1 ise bu </a:t>
            </a:r>
            <a:r>
              <a:rPr lang="tr-TR" sz="1600" dirty="0" err="1">
                <a:solidFill>
                  <a:schemeClr val="bg1"/>
                </a:solidFill>
                <a:latin typeface="Times New Roman" panose="02020603050405020304" pitchFamily="18" charset="0"/>
                <a:cs typeface="Times New Roman" panose="02020603050405020304" pitchFamily="18" charset="0"/>
              </a:rPr>
              <a:t>transient</a:t>
            </a:r>
            <a:r>
              <a:rPr lang="tr-TR" sz="1600" dirty="0">
                <a:solidFill>
                  <a:schemeClr val="bg1"/>
                </a:solidFill>
                <a:latin typeface="Times New Roman" panose="02020603050405020304" pitchFamily="18" charset="0"/>
                <a:cs typeface="Times New Roman" panose="02020603050405020304" pitchFamily="18" charset="0"/>
              </a:rPr>
              <a:t> olayların genel karakteristiklerini, terminolojisini ve test kavramlarını açıklayarak standart ailesinin temel referans dokümanını oluşturmaktadır [4]. Bu standartlar birlikte ele alındığında, otomotiv elektroniğinde EMC uyumluluğu hem fonksiyonel güvenilirlik hem de sistem bütünlüğü açısından tasarım gereksinimi hâline gelmektedir. Özellikle kara platformlarında kullanılan soğutma fanları, silecek motorları, cam kaldırma motorları ve yakıt pompa üniteleri gibi elektromekanik alt sistemler yalnızca mekanik güvenilirlik değil, aynı zamanda ağır elektriksel zorlanmalara karşı da yüksek dayanıklılık gerektirmektedir [5]. Şekil 1’de fırçalı DC motor testlerine yönelik bir sistemin blok diyagramı verilmiştir.</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7" name="Dikdörtgen 6"/>
          <p:cNvSpPr/>
          <p:nvPr/>
        </p:nvSpPr>
        <p:spPr>
          <a:xfrm>
            <a:off x="1758694" y="5416939"/>
            <a:ext cx="6104467" cy="338554"/>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1. </a:t>
            </a:r>
            <a:r>
              <a:rPr lang="en-US" sz="1600" dirty="0" err="1">
                <a:solidFill>
                  <a:schemeClr val="bg1"/>
                </a:solidFill>
                <a:latin typeface="Times New Roman" panose="02020603050405020304" pitchFamily="18" charset="0"/>
                <a:cs typeface="Times New Roman" panose="02020603050405020304" pitchFamily="18" charset="0"/>
              </a:rPr>
              <a:t>LTSpice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üzerinde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Fırçalı</a:t>
            </a:r>
            <a:r>
              <a:rPr lang="en-US" sz="1600" dirty="0">
                <a:solidFill>
                  <a:schemeClr val="bg1"/>
                </a:solidFill>
                <a:latin typeface="Times New Roman" panose="02020603050405020304" pitchFamily="18" charset="0"/>
                <a:cs typeface="Times New Roman" panose="02020603050405020304" pitchFamily="18" charset="0"/>
              </a:rPr>
              <a:t> DC Motor </a:t>
            </a:r>
            <a:r>
              <a:rPr lang="en-US" sz="1600" dirty="0" err="1">
                <a:solidFill>
                  <a:schemeClr val="bg1"/>
                </a:solidFill>
                <a:latin typeface="Times New Roman" panose="02020603050405020304" pitchFamily="18" charset="0"/>
                <a:cs typeface="Times New Roman" panose="02020603050405020304" pitchFamily="18" charset="0"/>
              </a:rPr>
              <a:t>Sisteminin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Diyagramı</a:t>
            </a:r>
            <a:endParaRPr lang="en-US" sz="1600" dirty="0">
              <a:solidFill>
                <a:schemeClr val="bg1"/>
              </a:solidFill>
              <a:latin typeface="Times New Roman" panose="02020603050405020304" pitchFamily="18" charset="0"/>
              <a:cs typeface="Times New Roman" panose="02020603050405020304" pitchFamily="18" charset="0"/>
            </a:endParaRPr>
          </a:p>
        </p:txBody>
      </p:sp>
      <p:pic>
        <p:nvPicPr>
          <p:cNvPr id="9" name="Resim 8"/>
          <p:cNvPicPr/>
          <p:nvPr/>
        </p:nvPicPr>
        <p:blipFill>
          <a:blip r:embed="rId2"/>
          <a:stretch>
            <a:fillRect/>
          </a:stretch>
        </p:blipFill>
        <p:spPr>
          <a:xfrm>
            <a:off x="1998238" y="3624969"/>
            <a:ext cx="5316855" cy="179197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6" name="Dikdörtgen 5"/>
          <p:cNvSpPr/>
          <p:nvPr/>
        </p:nvSpPr>
        <p:spPr>
          <a:xfrm>
            <a:off x="449162" y="1012098"/>
            <a:ext cx="8321876" cy="2554545"/>
          </a:xfrm>
          <a:prstGeom prst="rect">
            <a:avLst/>
          </a:prstGeom>
        </p:spPr>
        <p:txBody>
          <a:bodyPr vert="horz" lIns="91440" tIns="45720" rIns="91440" bIns="45720" rtlCol="0">
            <a:noAutofit/>
          </a:bodyPr>
          <a:lstStyle/>
          <a:p>
            <a:pPr algn="just">
              <a:spcBef>
                <a:spcPct val="20000"/>
              </a:spcBef>
              <a:buFont typeface="Arial"/>
              <a:buNone/>
            </a:pPr>
            <a:r>
              <a:rPr lang="tr-TR" sz="1600" dirty="0">
                <a:solidFill>
                  <a:schemeClr val="bg1"/>
                </a:solidFill>
                <a:latin typeface="Times New Roman" panose="02020603050405020304" pitchFamily="18" charset="0"/>
                <a:cs typeface="Times New Roman" panose="02020603050405020304" pitchFamily="18" charset="0"/>
              </a:rPr>
              <a:t>Modern kara araçlarında kullanılan elektronik kontrol üniteleri, güç elektroniği devreleri ve haberleşme bileşenleri, elektromanyetik uyumluluğun sağlanması için uluslararası standartlarla tanımlanan sınır ve test yöntemlerine uygun olarak tasarlanmak zorundadır [1]. CISPR 25, araç üzerindeki alıcıların korunması amacıyla iletken ve ışınım yoluyla oluşan elektromanyetik parazit seviyelerini sınırlayan kapsamlı bir ölçüm yapısı sunarken [1], ECE R10 araçların genel elektromanyetik emisyon ve bağışıklık gereksinimlerini belirleyerek tip onayı süreçlerinde referans alınan temel düzenlemelerden biri olarak öne çıkmaktadır [2]. Bu çerçeveyi tamamlayan ISO 7637-2 standardı, özellikle besleme hatları üzerinden iletilen geçici gerilim darbelerini tanımlayarak elektronik bileşenlerin marş, yük anahtarlaması ve </a:t>
            </a:r>
            <a:r>
              <a:rPr lang="tr-TR" sz="1600" dirty="0" err="1">
                <a:solidFill>
                  <a:schemeClr val="bg1"/>
                </a:solidFill>
                <a:latin typeface="Times New Roman" panose="02020603050405020304" pitchFamily="18" charset="0"/>
                <a:cs typeface="Times New Roman" panose="02020603050405020304" pitchFamily="18" charset="0"/>
              </a:rPr>
              <a:t>endüktif</a:t>
            </a:r>
            <a:r>
              <a:rPr lang="tr-TR" sz="1600" dirty="0">
                <a:solidFill>
                  <a:schemeClr val="bg1"/>
                </a:solidFill>
                <a:latin typeface="Times New Roman" panose="02020603050405020304" pitchFamily="18" charset="0"/>
                <a:cs typeface="Times New Roman" panose="02020603050405020304" pitchFamily="18" charset="0"/>
              </a:rPr>
              <a:t> kaynaklı </a:t>
            </a:r>
            <a:r>
              <a:rPr lang="tr-TR" sz="1600" dirty="0" err="1">
                <a:solidFill>
                  <a:schemeClr val="bg1"/>
                </a:solidFill>
                <a:latin typeface="Times New Roman" panose="02020603050405020304" pitchFamily="18" charset="0"/>
                <a:cs typeface="Times New Roman" panose="02020603050405020304" pitchFamily="18" charset="0"/>
              </a:rPr>
              <a:t>transientlere</a:t>
            </a:r>
            <a:r>
              <a:rPr lang="tr-TR" sz="1600" dirty="0">
                <a:solidFill>
                  <a:schemeClr val="bg1"/>
                </a:solidFill>
                <a:latin typeface="Times New Roman" panose="02020603050405020304" pitchFamily="18" charset="0"/>
                <a:cs typeface="Times New Roman" panose="02020603050405020304" pitchFamily="18" charset="0"/>
              </a:rPr>
              <a:t> karşı dayanıklılığını test etmektedir [3]. </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7" name="Dikdörtgen 6"/>
          <p:cNvSpPr/>
          <p:nvPr/>
        </p:nvSpPr>
        <p:spPr>
          <a:xfrm>
            <a:off x="1756832" y="5572497"/>
            <a:ext cx="5962227" cy="338554"/>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1. </a:t>
            </a:r>
            <a:r>
              <a:rPr lang="en-US" sz="1600" dirty="0" err="1">
                <a:solidFill>
                  <a:schemeClr val="bg1"/>
                </a:solidFill>
                <a:latin typeface="Times New Roman" panose="02020603050405020304" pitchFamily="18" charset="0"/>
                <a:cs typeface="Times New Roman" panose="02020603050405020304" pitchFamily="18" charset="0"/>
              </a:rPr>
              <a:t>LTSpice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üzerinde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Fırçalı</a:t>
            </a:r>
            <a:r>
              <a:rPr lang="en-US" sz="1600" dirty="0">
                <a:solidFill>
                  <a:schemeClr val="bg1"/>
                </a:solidFill>
                <a:latin typeface="Times New Roman" panose="02020603050405020304" pitchFamily="18" charset="0"/>
                <a:cs typeface="Times New Roman" panose="02020603050405020304" pitchFamily="18" charset="0"/>
              </a:rPr>
              <a:t> DC Motor </a:t>
            </a:r>
            <a:r>
              <a:rPr lang="en-US" sz="1600" dirty="0" err="1">
                <a:solidFill>
                  <a:schemeClr val="bg1"/>
                </a:solidFill>
                <a:latin typeface="Times New Roman" panose="02020603050405020304" pitchFamily="18" charset="0"/>
                <a:cs typeface="Times New Roman" panose="02020603050405020304" pitchFamily="18" charset="0"/>
              </a:rPr>
              <a:t>Sisteminin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Diyagramı</a:t>
            </a:r>
            <a:endParaRPr lang="en-US" sz="1600" dirty="0">
              <a:solidFill>
                <a:schemeClr val="bg1"/>
              </a:solidFill>
              <a:latin typeface="Times New Roman" panose="02020603050405020304" pitchFamily="18" charset="0"/>
              <a:cs typeface="Times New Roman" panose="02020603050405020304" pitchFamily="18" charset="0"/>
            </a:endParaRPr>
          </a:p>
        </p:txBody>
      </p:sp>
      <p:pic>
        <p:nvPicPr>
          <p:cNvPr id="8" name="Resim 7"/>
          <p:cNvPicPr/>
          <p:nvPr/>
        </p:nvPicPr>
        <p:blipFill>
          <a:blip r:embed="rId2"/>
          <a:stretch>
            <a:fillRect/>
          </a:stretch>
        </p:blipFill>
        <p:spPr>
          <a:xfrm>
            <a:off x="1951672" y="3762967"/>
            <a:ext cx="5316855" cy="1791970"/>
          </a:xfrm>
          <a:prstGeom prst="rect">
            <a:avLst/>
          </a:prstGeom>
        </p:spPr>
      </p:pic>
      <p:sp>
        <p:nvSpPr>
          <p:cNvPr id="9" name="Title 1"/>
          <p:cNvSpPr txBox="1">
            <a:spLocks/>
          </p:cNvSpPr>
          <p:nvPr/>
        </p:nvSpPr>
        <p:spPr>
          <a:xfrm>
            <a:off x="0" y="48685"/>
            <a:ext cx="92202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b="1" smtClean="0">
                <a:solidFill>
                  <a:srgbClr val="FFFFFF"/>
                </a:solidFill>
              </a:rPr>
              <a:t>GİRİŞ</a:t>
            </a:r>
            <a:endParaRPr lang="en-US" sz="3200" b="1" dirty="0">
              <a:solidFill>
                <a:srgbClr val="FFFFFF"/>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1021" y="-9979"/>
            <a:ext cx="8229600" cy="1143000"/>
          </a:xfrm>
        </p:spPr>
        <p:txBody>
          <a:bodyPr vert="horz" lIns="91440" tIns="45720" rIns="91440" bIns="45720" rtlCol="0" anchor="ctr">
            <a:normAutofit/>
          </a:bodyPr>
          <a:lstStyle/>
          <a:p>
            <a:r>
              <a:rPr lang="en-US" sz="3200" b="1" dirty="0">
                <a:solidFill>
                  <a:srgbClr val="FFFFFF"/>
                </a:solidFill>
              </a:rPr>
              <a:t>GİRİŞ</a:t>
            </a:r>
          </a:p>
        </p:txBody>
      </p:sp>
      <p:sp>
        <p:nvSpPr>
          <p:cNvPr id="5" name="Dikdörtgen 4"/>
          <p:cNvSpPr/>
          <p:nvPr/>
        </p:nvSpPr>
        <p:spPr>
          <a:xfrm>
            <a:off x="675775" y="836689"/>
            <a:ext cx="7950200" cy="2062103"/>
          </a:xfrm>
          <a:prstGeom prst="rect">
            <a:avLst/>
          </a:prstGeom>
        </p:spPr>
        <p:txBody>
          <a:bodyPr vert="horz" lIns="91440" tIns="45720" rIns="91440" bIns="45720" rtlCol="0">
            <a:noAutofit/>
          </a:bodyPr>
          <a:lstStyle/>
          <a:p>
            <a:pPr algn="just">
              <a:spcBef>
                <a:spcPct val="20000"/>
              </a:spcBef>
              <a:buFont typeface="Arial"/>
              <a:buNone/>
            </a:pPr>
            <a:r>
              <a:rPr lang="en-US" sz="1600" dirty="0">
                <a:solidFill>
                  <a:schemeClr val="bg1"/>
                </a:solidFill>
                <a:latin typeface="Times New Roman" panose="02020603050405020304" pitchFamily="18" charset="0"/>
                <a:cs typeface="Times New Roman" panose="02020603050405020304" pitchFamily="18" charset="0"/>
              </a:rPr>
              <a:t>Bu </a:t>
            </a:r>
            <a:r>
              <a:rPr lang="en-US" sz="1600" dirty="0" err="1">
                <a:solidFill>
                  <a:schemeClr val="bg1"/>
                </a:solidFill>
                <a:latin typeface="Times New Roman" panose="02020603050405020304" pitchFamily="18" charset="0"/>
                <a:cs typeface="Times New Roman" panose="02020603050405020304" pitchFamily="18" charset="0"/>
              </a:rPr>
              <a:t>çalışmada</a:t>
            </a:r>
            <a:r>
              <a:rPr lang="en-US" sz="1600" dirty="0">
                <a:solidFill>
                  <a:schemeClr val="bg1"/>
                </a:solidFill>
                <a:latin typeface="Times New Roman" panose="02020603050405020304" pitchFamily="18" charset="0"/>
                <a:cs typeface="Times New Roman" panose="02020603050405020304" pitchFamily="18" charset="0"/>
              </a:rPr>
              <a:t> ilk </a:t>
            </a:r>
            <a:r>
              <a:rPr lang="en-US" sz="1600" dirty="0" err="1">
                <a:solidFill>
                  <a:schemeClr val="bg1"/>
                </a:solidFill>
                <a:latin typeface="Times New Roman" panose="02020603050405020304" pitchFamily="18" charset="0"/>
                <a:cs typeface="Times New Roman" panose="02020603050405020304" pitchFamily="18" charset="0"/>
              </a:rPr>
              <a:t>bölümde</a:t>
            </a:r>
            <a:r>
              <a:rPr lang="en-US" sz="1600" dirty="0">
                <a:solidFill>
                  <a:schemeClr val="bg1"/>
                </a:solidFill>
                <a:latin typeface="Times New Roman" panose="02020603050405020304" pitchFamily="18" charset="0"/>
                <a:cs typeface="Times New Roman" panose="02020603050405020304" pitchFamily="18" charset="0"/>
              </a:rPr>
              <a:t>, ISO 7637-2 </a:t>
            </a:r>
            <a:r>
              <a:rPr lang="en-US" sz="1600" dirty="0" err="1">
                <a:solidFill>
                  <a:schemeClr val="bg1"/>
                </a:solidFill>
                <a:latin typeface="Times New Roman" panose="02020603050405020304" pitchFamily="18" charset="0"/>
                <a:cs typeface="Times New Roman" panose="02020603050405020304" pitchFamily="18" charset="0"/>
              </a:rPr>
              <a:t>standardında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tanımlanan</a:t>
            </a:r>
            <a:r>
              <a:rPr lang="en-US" sz="1600" dirty="0">
                <a:solidFill>
                  <a:schemeClr val="bg1"/>
                </a:solidFill>
                <a:latin typeface="Times New Roman" panose="02020603050405020304" pitchFamily="18" charset="0"/>
                <a:cs typeface="Times New Roman" panose="02020603050405020304" pitchFamily="18" charset="0"/>
              </a:rPr>
              <a:t> transient </a:t>
            </a:r>
            <a:r>
              <a:rPr lang="en-US" sz="1600" dirty="0" err="1">
                <a:solidFill>
                  <a:schemeClr val="bg1"/>
                </a:solidFill>
                <a:latin typeface="Times New Roman" panose="02020603050405020304" pitchFamily="18" charset="0"/>
                <a:cs typeface="Times New Roman" panose="02020603050405020304" pitchFamily="18" charset="0"/>
              </a:rPr>
              <a:t>darbe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türleri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test </a:t>
            </a:r>
            <a:r>
              <a:rPr lang="en-US" sz="1600" dirty="0" err="1">
                <a:solidFill>
                  <a:schemeClr val="bg1"/>
                </a:solidFill>
                <a:latin typeface="Times New Roman" panose="02020603050405020304" pitchFamily="18" charset="0"/>
                <a:cs typeface="Times New Roman" panose="02020603050405020304" pitchFamily="18" charset="0"/>
              </a:rPr>
              <a:t>koşulları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ayrıntılı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biçimde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incelenmiştir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İkinci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bölümde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fırçalı</a:t>
            </a:r>
            <a:r>
              <a:rPr lang="en-US" sz="1600" dirty="0">
                <a:solidFill>
                  <a:schemeClr val="bg1"/>
                </a:solidFill>
                <a:latin typeface="Times New Roman" panose="02020603050405020304" pitchFamily="18" charset="0"/>
                <a:cs typeface="Times New Roman" panose="02020603050405020304" pitchFamily="18" charset="0"/>
              </a:rPr>
              <a:t> DC motor </a:t>
            </a:r>
            <a:r>
              <a:rPr lang="en-US" sz="1600" dirty="0" err="1">
                <a:solidFill>
                  <a:schemeClr val="bg1"/>
                </a:solidFill>
                <a:latin typeface="Times New Roman" panose="02020603050405020304" pitchFamily="18" charset="0"/>
                <a:cs typeface="Times New Roman" panose="02020603050405020304" pitchFamily="18" charset="0"/>
              </a:rPr>
              <a:t>sistemine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yönelik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topolojisi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detaylandırılmıştır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Kullanılan</a:t>
            </a:r>
            <a:r>
              <a:rPr lang="en-US" sz="1600" dirty="0">
                <a:solidFill>
                  <a:schemeClr val="bg1"/>
                </a:solidFill>
                <a:latin typeface="Times New Roman" panose="02020603050405020304" pitchFamily="18" charset="0"/>
                <a:cs typeface="Times New Roman" panose="02020603050405020304" pitchFamily="18" charset="0"/>
              </a:rPr>
              <a:t> TVS </a:t>
            </a:r>
            <a:r>
              <a:rPr lang="en-US" sz="1600" dirty="0" err="1">
                <a:solidFill>
                  <a:schemeClr val="bg1"/>
                </a:solidFill>
                <a:latin typeface="Times New Roman" panose="02020603050405020304" pitchFamily="18" charset="0"/>
                <a:cs typeface="Times New Roman" panose="02020603050405020304" pitchFamily="18" charset="0"/>
              </a:rPr>
              <a:t>diyot</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yönlü</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diyot</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giriş</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filtre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kapasitörlerinin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teknik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özellikleri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aktarılmıştır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Üçüncü</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bölümde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geliştirilen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donanım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modeline</a:t>
            </a:r>
            <a:r>
              <a:rPr lang="en-US" sz="1600" dirty="0">
                <a:solidFill>
                  <a:schemeClr val="bg1"/>
                </a:solidFill>
                <a:latin typeface="Times New Roman" panose="02020603050405020304" pitchFamily="18" charset="0"/>
                <a:cs typeface="Times New Roman" panose="02020603050405020304" pitchFamily="18" charset="0"/>
              </a:rPr>
              <a:t> ISO 7637-2 Pulse 1, 2a/2b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3a/3b </a:t>
            </a:r>
            <a:r>
              <a:rPr lang="en-US" sz="1600" dirty="0" err="1">
                <a:solidFill>
                  <a:schemeClr val="bg1"/>
                </a:solidFill>
                <a:latin typeface="Times New Roman" panose="02020603050405020304" pitchFamily="18" charset="0"/>
                <a:cs typeface="Times New Roman" panose="02020603050405020304" pitchFamily="18" charset="0"/>
              </a:rPr>
              <a:t>sinyalleri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uygulanarak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LTspice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ortamında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gerçekleştirilen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simülasyon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sonuçları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sunulmuştur</a:t>
            </a:r>
            <a:r>
              <a:rPr lang="en-US" sz="1600" dirty="0">
                <a:solidFill>
                  <a:schemeClr val="bg1"/>
                </a:solidFill>
                <a:latin typeface="Times New Roman" panose="02020603050405020304" pitchFamily="18" charset="0"/>
                <a:cs typeface="Times New Roman" panose="02020603050405020304" pitchFamily="18" charset="0"/>
              </a:rPr>
              <a:t>. Son </a:t>
            </a:r>
            <a:r>
              <a:rPr lang="en-US" sz="1600" dirty="0" err="1">
                <a:solidFill>
                  <a:schemeClr val="bg1"/>
                </a:solidFill>
                <a:latin typeface="Times New Roman" panose="02020603050405020304" pitchFamily="18" charset="0"/>
                <a:cs typeface="Times New Roman" panose="02020603050405020304" pitchFamily="18" charset="0"/>
              </a:rPr>
              <a:t>bölümde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ise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simülasyon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çıktıları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üzerinden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sistemin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gerilim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bağışıklığı</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akım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kararlılığı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dayanımı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açısından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genel</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değerlendirmesi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yapılmıştır</a:t>
            </a:r>
            <a:r>
              <a:rPr lang="en-US" sz="1600" dirty="0">
                <a:solidFill>
                  <a:schemeClr val="bg1"/>
                </a:solidFill>
                <a:latin typeface="Times New Roman" panose="02020603050405020304" pitchFamily="18" charset="0"/>
                <a:cs typeface="Times New Roman" panose="02020603050405020304" pitchFamily="18" charset="0"/>
              </a:rPr>
              <a:t>.</a:t>
            </a:r>
          </a:p>
        </p:txBody>
      </p:sp>
      <p:sp>
        <p:nvSpPr>
          <p:cNvPr id="7" name="Dikdörtgen 6"/>
          <p:cNvSpPr/>
          <p:nvPr/>
        </p:nvSpPr>
        <p:spPr>
          <a:xfrm>
            <a:off x="1944222" y="6213453"/>
            <a:ext cx="6756399" cy="338554"/>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2. </a:t>
            </a:r>
            <a:r>
              <a:rPr lang="tr-TR" sz="1600" dirty="0">
                <a:solidFill>
                  <a:schemeClr val="bg1"/>
                </a:solidFill>
                <a:latin typeface="Times New Roman" panose="02020603050405020304" pitchFamily="18" charset="0"/>
                <a:cs typeface="Times New Roman" panose="02020603050405020304" pitchFamily="18" charset="0"/>
              </a:rPr>
              <a:t>ISO 7637-2 </a:t>
            </a:r>
            <a:r>
              <a:rPr lang="en-US" sz="1600" dirty="0">
                <a:solidFill>
                  <a:schemeClr val="bg1"/>
                </a:solidFill>
                <a:latin typeface="Times New Roman" panose="02020603050405020304" pitchFamily="18" charset="0"/>
                <a:cs typeface="Times New Roman" panose="02020603050405020304" pitchFamily="18" charset="0"/>
              </a:rPr>
              <a:t>Test </a:t>
            </a:r>
            <a:r>
              <a:rPr lang="en-US" sz="1600" dirty="0" err="1">
                <a:solidFill>
                  <a:schemeClr val="bg1"/>
                </a:solidFill>
                <a:latin typeface="Times New Roman" panose="02020603050405020304" pitchFamily="18" charset="0"/>
                <a:cs typeface="Times New Roman" panose="02020603050405020304" pitchFamily="18" charset="0"/>
              </a:rPr>
              <a:t>Darbelerinin</a:t>
            </a:r>
            <a:r>
              <a:rPr lang="en-US" sz="1600" dirty="0">
                <a:solidFill>
                  <a:schemeClr val="bg1"/>
                </a:solidFill>
                <a:latin typeface="Times New Roman" panose="02020603050405020304" pitchFamily="18" charset="0"/>
                <a:cs typeface="Times New Roman" panose="02020603050405020304" pitchFamily="18" charset="0"/>
              </a:rPr>
              <a:t> Zaman-</a:t>
            </a:r>
            <a:r>
              <a:rPr lang="en-US" sz="1600" dirty="0" err="1">
                <a:solidFill>
                  <a:schemeClr val="bg1"/>
                </a:solidFill>
                <a:latin typeface="Times New Roman" panose="02020603050405020304" pitchFamily="18" charset="0"/>
                <a:cs typeface="Times New Roman" panose="02020603050405020304" pitchFamily="18" charset="0"/>
              </a:rPr>
              <a:t>Gerilim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Profilleri</a:t>
            </a:r>
            <a:endParaRPr lang="en-US" sz="1600" dirty="0">
              <a:solidFill>
                <a:schemeClr val="bg1"/>
              </a:solidFill>
              <a:latin typeface="Times New Roman" panose="02020603050405020304" pitchFamily="18" charset="0"/>
              <a:cs typeface="Times New Roman" panose="02020603050405020304" pitchFamily="18" charset="0"/>
            </a:endParaRPr>
          </a:p>
        </p:txBody>
      </p:sp>
      <p:pic>
        <p:nvPicPr>
          <p:cNvPr id="6" name="Resim 5"/>
          <p:cNvPicPr/>
          <p:nvPr/>
        </p:nvPicPr>
        <p:blipFill>
          <a:blip r:embed="rId2"/>
          <a:stretch>
            <a:fillRect/>
          </a:stretch>
        </p:blipFill>
        <p:spPr>
          <a:xfrm>
            <a:off x="2040390" y="2929570"/>
            <a:ext cx="5220970" cy="325310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vert="horz" lIns="91440" tIns="45720" rIns="91440" bIns="45720" rtlCol="0" anchor="ctr">
            <a:normAutofit/>
          </a:bodyPr>
          <a:lstStyle/>
          <a:p>
            <a:r>
              <a:rPr lang="en-US" sz="3200" b="1" dirty="0">
                <a:solidFill>
                  <a:srgbClr val="FFFFFF"/>
                </a:solidFill>
              </a:rPr>
              <a:t>2. </a:t>
            </a:r>
            <a:r>
              <a:rPr lang="en-US" sz="3200" b="1" dirty="0" err="1">
                <a:solidFill>
                  <a:srgbClr val="FFFFFF"/>
                </a:solidFill>
              </a:rPr>
              <a:t>Donanım</a:t>
            </a:r>
            <a:r>
              <a:rPr lang="en-US" sz="3200" b="1" dirty="0">
                <a:solidFill>
                  <a:srgbClr val="FFFFFF"/>
                </a:solidFill>
              </a:rPr>
              <a:t> </a:t>
            </a:r>
            <a:r>
              <a:rPr lang="en-US" sz="3200" b="1" dirty="0" err="1">
                <a:solidFill>
                  <a:srgbClr val="FFFFFF"/>
                </a:solidFill>
              </a:rPr>
              <a:t>Tasarımı</a:t>
            </a:r>
            <a:r>
              <a:rPr lang="en-US" sz="3200" b="1" dirty="0">
                <a:solidFill>
                  <a:srgbClr val="FFFFFF"/>
                </a:solidFill>
              </a:rPr>
              <a:t> </a:t>
            </a:r>
            <a:r>
              <a:rPr lang="en-US" sz="3200" b="1" dirty="0" err="1">
                <a:solidFill>
                  <a:srgbClr val="FFFFFF"/>
                </a:solidFill>
              </a:rPr>
              <a:t>ve</a:t>
            </a:r>
            <a:r>
              <a:rPr lang="en-US" sz="3200" b="1" dirty="0">
                <a:solidFill>
                  <a:srgbClr val="FFFFFF"/>
                </a:solidFill>
              </a:rPr>
              <a:t> </a:t>
            </a:r>
            <a:r>
              <a:rPr lang="en-US" sz="3200" b="1" dirty="0" err="1">
                <a:solidFill>
                  <a:srgbClr val="FFFFFF"/>
                </a:solidFill>
              </a:rPr>
              <a:t>Simülasyon</a:t>
            </a:r>
            <a:r>
              <a:rPr lang="en-US" sz="3200" b="1" dirty="0">
                <a:solidFill>
                  <a:srgbClr val="FFFFFF"/>
                </a:solidFill>
              </a:rPr>
              <a:t> </a:t>
            </a:r>
            <a:r>
              <a:rPr lang="en-US" sz="3200" b="1" dirty="0" err="1">
                <a:solidFill>
                  <a:srgbClr val="FFFFFF"/>
                </a:solidFill>
              </a:rPr>
              <a:t>Yaklaşımı</a:t>
            </a:r>
            <a:endParaRPr lang="en-US" sz="3200" b="1" dirty="0">
              <a:solidFill>
                <a:srgbClr val="FFFFFF"/>
              </a:solidFill>
            </a:endParaRPr>
          </a:p>
        </p:txBody>
      </p:sp>
      <p:sp>
        <p:nvSpPr>
          <p:cNvPr id="6" name="Dikdörtgen 5"/>
          <p:cNvSpPr/>
          <p:nvPr/>
        </p:nvSpPr>
        <p:spPr>
          <a:xfrm>
            <a:off x="457200" y="1038825"/>
            <a:ext cx="8478456" cy="3046988"/>
          </a:xfrm>
          <a:prstGeom prst="rect">
            <a:avLst/>
          </a:prstGeom>
        </p:spPr>
        <p:txBody>
          <a:bodyPr vert="horz" lIns="91440" tIns="45720" rIns="91440" bIns="45720" rtlCol="0">
            <a:noAutofit/>
          </a:bodyPr>
          <a:lstStyle/>
          <a:p>
            <a:pPr algn="just">
              <a:spcBef>
                <a:spcPct val="20000"/>
              </a:spcBef>
              <a:buFont typeface="Arial"/>
              <a:buNone/>
            </a:pPr>
            <a:r>
              <a:rPr lang="en-US" sz="1600" dirty="0">
                <a:solidFill>
                  <a:schemeClr val="bg1"/>
                </a:solidFill>
                <a:latin typeface="Times New Roman" panose="02020603050405020304" pitchFamily="18" charset="0"/>
                <a:cs typeface="Times New Roman" panose="02020603050405020304" pitchFamily="18" charset="0"/>
              </a:rPr>
              <a:t>Bu </a:t>
            </a:r>
            <a:r>
              <a:rPr lang="en-US" sz="1600" dirty="0" err="1">
                <a:solidFill>
                  <a:schemeClr val="bg1"/>
                </a:solidFill>
                <a:latin typeface="Times New Roman" panose="02020603050405020304" pitchFamily="18" charset="0"/>
                <a:cs typeface="Times New Roman" panose="02020603050405020304" pitchFamily="18" charset="0"/>
              </a:rPr>
              <a:t>çalışmada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fırçalı</a:t>
            </a:r>
            <a:r>
              <a:rPr lang="en-US" sz="1600" dirty="0">
                <a:solidFill>
                  <a:schemeClr val="bg1"/>
                </a:solidFill>
                <a:latin typeface="Times New Roman" panose="02020603050405020304" pitchFamily="18" charset="0"/>
                <a:cs typeface="Times New Roman" panose="02020603050405020304" pitchFamily="18" charset="0"/>
              </a:rPr>
              <a:t> DC motor </a:t>
            </a:r>
            <a:r>
              <a:rPr lang="en-US" sz="1600" dirty="0" err="1">
                <a:solidFill>
                  <a:schemeClr val="bg1"/>
                </a:solidFill>
                <a:latin typeface="Times New Roman" panose="02020603050405020304" pitchFamily="18" charset="0"/>
                <a:cs typeface="Times New Roman" panose="02020603050405020304" pitchFamily="18" charset="0"/>
              </a:rPr>
              <a:t>tabanlı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tahrik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sisteminin</a:t>
            </a:r>
            <a:r>
              <a:rPr lang="en-US" sz="1600" dirty="0">
                <a:solidFill>
                  <a:schemeClr val="bg1"/>
                </a:solidFill>
                <a:latin typeface="Times New Roman" panose="02020603050405020304" pitchFamily="18" charset="0"/>
                <a:cs typeface="Times New Roman" panose="02020603050405020304" pitchFamily="18" charset="0"/>
              </a:rPr>
              <a:t> ISO 7637-2 </a:t>
            </a:r>
            <a:r>
              <a:rPr lang="en-US" sz="1600" dirty="0" err="1">
                <a:solidFill>
                  <a:schemeClr val="bg1"/>
                </a:solidFill>
                <a:latin typeface="Times New Roman" panose="02020603050405020304" pitchFamily="18" charset="0"/>
                <a:cs typeface="Times New Roman" panose="02020603050405020304" pitchFamily="18" charset="0"/>
              </a:rPr>
              <a:t>standardında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tanımlanan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geçici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gerilim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darbeleri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altındaki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davranışını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incelemek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amacıyla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LTspice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ortamında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simülasyon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modeli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geliştirilmiştir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Fırçalı</a:t>
            </a:r>
            <a:r>
              <a:rPr lang="en-US" sz="1600" dirty="0">
                <a:solidFill>
                  <a:schemeClr val="bg1"/>
                </a:solidFill>
                <a:latin typeface="Times New Roman" panose="02020603050405020304" pitchFamily="18" charset="0"/>
                <a:cs typeface="Times New Roman" panose="02020603050405020304" pitchFamily="18" charset="0"/>
              </a:rPr>
              <a:t> DC </a:t>
            </a:r>
            <a:r>
              <a:rPr lang="en-US" sz="1600" dirty="0" err="1">
                <a:solidFill>
                  <a:schemeClr val="bg1"/>
                </a:solidFill>
                <a:latin typeface="Times New Roman" panose="02020603050405020304" pitchFamily="18" charset="0"/>
                <a:cs typeface="Times New Roman" panose="02020603050405020304" pitchFamily="18" charset="0"/>
              </a:rPr>
              <a:t>motorlar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soğutma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fanı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silecek</a:t>
            </a:r>
            <a:r>
              <a:rPr lang="en-US" sz="1600" dirty="0">
                <a:solidFill>
                  <a:schemeClr val="bg1"/>
                </a:solidFill>
                <a:latin typeface="Times New Roman" panose="02020603050405020304" pitchFamily="18" charset="0"/>
                <a:cs typeface="Times New Roman" panose="02020603050405020304" pitchFamily="18" charset="0"/>
              </a:rPr>
              <a:t>, cam </a:t>
            </a:r>
            <a:r>
              <a:rPr lang="en-US" sz="1600" dirty="0" err="1">
                <a:solidFill>
                  <a:schemeClr val="bg1"/>
                </a:solidFill>
                <a:latin typeface="Times New Roman" panose="02020603050405020304" pitchFamily="18" charset="0"/>
                <a:cs typeface="Times New Roman" panose="02020603050405020304" pitchFamily="18" charset="0"/>
              </a:rPr>
              <a:t>kaldırma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yakıt</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pompa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sistemleri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gibi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araç</a:t>
            </a:r>
            <a:r>
              <a:rPr lang="en-US" sz="1600" dirty="0">
                <a:solidFill>
                  <a:schemeClr val="bg1"/>
                </a:solidFill>
                <a:latin typeface="Times New Roman" panose="02020603050405020304" pitchFamily="18" charset="0"/>
                <a:cs typeface="Times New Roman" panose="02020603050405020304" pitchFamily="18" charset="0"/>
              </a:rPr>
              <a:t> alt </a:t>
            </a:r>
            <a:r>
              <a:rPr lang="en-US" sz="1600" dirty="0" err="1">
                <a:solidFill>
                  <a:schemeClr val="bg1"/>
                </a:solidFill>
                <a:latin typeface="Times New Roman" panose="02020603050405020304" pitchFamily="18" charset="0"/>
                <a:cs typeface="Times New Roman" panose="02020603050405020304" pitchFamily="18" charset="0"/>
              </a:rPr>
              <a:t>modüllerinde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düşük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maliyetli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güvenilir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çözümler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sunmalarına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karşın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kolektör</a:t>
            </a:r>
            <a:r>
              <a:rPr lang="en-US" sz="1600" dirty="0">
                <a:solidFill>
                  <a:schemeClr val="bg1"/>
                </a:solidFill>
                <a:latin typeface="Times New Roman" panose="02020603050405020304" pitchFamily="18" charset="0"/>
                <a:cs typeface="Times New Roman" panose="02020603050405020304" pitchFamily="18" charset="0"/>
              </a:rPr>
              <a:t>–</a:t>
            </a:r>
            <a:r>
              <a:rPr lang="en-US" sz="1600" dirty="0" err="1">
                <a:solidFill>
                  <a:schemeClr val="bg1"/>
                </a:solidFill>
                <a:latin typeface="Times New Roman" panose="02020603050405020304" pitchFamily="18" charset="0"/>
                <a:cs typeface="Times New Roman" panose="02020603050405020304" pitchFamily="18" charset="0"/>
              </a:rPr>
              <a:t>fırça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etkileşimi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nedeniyle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yüksek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frekanslı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parazit</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üretme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eğilimindedir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bu</a:t>
            </a:r>
            <a:r>
              <a:rPr lang="en-US" sz="1600" dirty="0">
                <a:solidFill>
                  <a:schemeClr val="bg1"/>
                </a:solidFill>
                <a:latin typeface="Times New Roman" panose="02020603050405020304" pitchFamily="18" charset="0"/>
                <a:cs typeface="Times New Roman" panose="02020603050405020304" pitchFamily="18" charset="0"/>
              </a:rPr>
              <a:t> durum </a:t>
            </a:r>
            <a:r>
              <a:rPr lang="en-US" sz="1600" dirty="0" err="1">
                <a:solidFill>
                  <a:schemeClr val="bg1"/>
                </a:solidFill>
                <a:latin typeface="Times New Roman" panose="02020603050405020304" pitchFamily="18" charset="0"/>
                <a:cs typeface="Times New Roman" panose="02020603050405020304" pitchFamily="18" charset="0"/>
              </a:rPr>
              <a:t>özellikle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besleme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hatlarında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ilave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tedbirlerini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zorunlu</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kılmaktadır</a:t>
            </a:r>
            <a:r>
              <a:rPr lang="en-US" sz="1600" dirty="0">
                <a:solidFill>
                  <a:schemeClr val="bg1"/>
                </a:solidFill>
                <a:latin typeface="Times New Roman" panose="02020603050405020304" pitchFamily="18" charset="0"/>
                <a:cs typeface="Times New Roman" panose="02020603050405020304" pitchFamily="18" charset="0"/>
              </a:rPr>
              <a:t> [7]. LT8606, ISO 7637-2’de </a:t>
            </a:r>
            <a:r>
              <a:rPr lang="en-US" sz="1600" dirty="0" err="1">
                <a:solidFill>
                  <a:schemeClr val="bg1"/>
                </a:solidFill>
                <a:latin typeface="Times New Roman" panose="02020603050405020304" pitchFamily="18" charset="0"/>
                <a:cs typeface="Times New Roman" panose="02020603050405020304" pitchFamily="18" charset="0"/>
              </a:rPr>
              <a:t>tanımlanan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geniş</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genlikli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transientlere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rağmen</a:t>
            </a:r>
            <a:r>
              <a:rPr lang="en-US" sz="1600" dirty="0">
                <a:solidFill>
                  <a:schemeClr val="bg1"/>
                </a:solidFill>
                <a:latin typeface="Times New Roman" panose="02020603050405020304" pitchFamily="18" charset="0"/>
                <a:cs typeface="Times New Roman" panose="02020603050405020304" pitchFamily="18" charset="0"/>
              </a:rPr>
              <a:t> gate driver </a:t>
            </a:r>
            <a:r>
              <a:rPr lang="en-US" sz="1600" dirty="0" err="1">
                <a:solidFill>
                  <a:schemeClr val="bg1"/>
                </a:solidFill>
                <a:latin typeface="Times New Roman" panose="02020603050405020304" pitchFamily="18" charset="0"/>
                <a:cs typeface="Times New Roman" panose="02020603050405020304" pitchFamily="18" charset="0"/>
              </a:rPr>
              <a:t>için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düşük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dalgalanmalı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besleme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sağlamaktadır</a:t>
            </a:r>
            <a:r>
              <a:rPr lang="en-US" sz="1600" dirty="0">
                <a:solidFill>
                  <a:schemeClr val="bg1"/>
                </a:solidFill>
                <a:latin typeface="Times New Roman" panose="02020603050405020304" pitchFamily="18" charset="0"/>
                <a:cs typeface="Times New Roman" panose="02020603050405020304" pitchFamily="18" charset="0"/>
              </a:rPr>
              <a:t>. LT1160 </a:t>
            </a:r>
            <a:r>
              <a:rPr lang="en-US" sz="1600" dirty="0" err="1">
                <a:solidFill>
                  <a:schemeClr val="bg1"/>
                </a:solidFill>
                <a:latin typeface="Times New Roman" panose="02020603050405020304" pitchFamily="18" charset="0"/>
                <a:cs typeface="Times New Roman" panose="02020603050405020304" pitchFamily="18" charset="0"/>
              </a:rPr>
              <a:t>ise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dahili</a:t>
            </a:r>
            <a:r>
              <a:rPr lang="en-US" sz="1600" dirty="0">
                <a:solidFill>
                  <a:schemeClr val="bg1"/>
                </a:solidFill>
                <a:latin typeface="Times New Roman" panose="02020603050405020304" pitchFamily="18" charset="0"/>
                <a:cs typeface="Times New Roman" panose="02020603050405020304" pitchFamily="18" charset="0"/>
              </a:rPr>
              <a:t> dead-time </a:t>
            </a:r>
            <a:r>
              <a:rPr lang="en-US" sz="1600" dirty="0" err="1">
                <a:solidFill>
                  <a:schemeClr val="bg1"/>
                </a:solidFill>
                <a:latin typeface="Times New Roman" panose="02020603050405020304" pitchFamily="18" charset="0"/>
                <a:cs typeface="Times New Roman" panose="02020603050405020304" pitchFamily="18" charset="0"/>
              </a:rPr>
              <a:t>kontrolü</a:t>
            </a:r>
            <a:r>
              <a:rPr lang="en-US" sz="1600" dirty="0">
                <a:solidFill>
                  <a:schemeClr val="bg1"/>
                </a:solidFill>
                <a:latin typeface="Times New Roman" panose="02020603050405020304" pitchFamily="18" charset="0"/>
                <a:cs typeface="Times New Roman" panose="02020603050405020304" pitchFamily="18" charset="0"/>
              </a:rPr>
              <a:t>, bootstrap </a:t>
            </a:r>
            <a:r>
              <a:rPr lang="en-US" sz="1600" dirty="0" err="1">
                <a:solidFill>
                  <a:schemeClr val="bg1"/>
                </a:solidFill>
                <a:latin typeface="Times New Roman" panose="02020603050405020304" pitchFamily="18" charset="0"/>
                <a:cs typeface="Times New Roman" panose="02020603050405020304" pitchFamily="18" charset="0"/>
              </a:rPr>
              <a:t>sürüş</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yapısı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karşılıklı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kilitleme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özellikleri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ile</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akımının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kararlı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güvenli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biçimde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anahtarlanmasını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mümkün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kılmaktadır</a:t>
            </a:r>
            <a:r>
              <a:rPr lang="en-US" sz="1600" dirty="0">
                <a:solidFill>
                  <a:schemeClr val="bg1"/>
                </a:solidFill>
                <a:latin typeface="Times New Roman" panose="02020603050405020304" pitchFamily="18" charset="0"/>
                <a:cs typeface="Times New Roman" panose="02020603050405020304" pitchFamily="18" charset="0"/>
              </a:rPr>
              <a:t>. Bu </a:t>
            </a:r>
            <a:r>
              <a:rPr lang="en-US" sz="1600" dirty="0" err="1">
                <a:solidFill>
                  <a:schemeClr val="bg1"/>
                </a:solidFill>
                <a:latin typeface="Times New Roman" panose="02020603050405020304" pitchFamily="18" charset="0"/>
                <a:cs typeface="Times New Roman" panose="02020603050405020304" pitchFamily="18" charset="0"/>
              </a:rPr>
              <a:t>mimari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sayesinde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motorun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elektromekanik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davranışının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yanı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sıra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güç</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elektroniği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zincirinin</a:t>
            </a:r>
            <a:r>
              <a:rPr lang="en-US" sz="1600" dirty="0">
                <a:solidFill>
                  <a:schemeClr val="bg1"/>
                </a:solidFill>
                <a:latin typeface="Times New Roman" panose="02020603050405020304" pitchFamily="18" charset="0"/>
                <a:cs typeface="Times New Roman" panose="02020603050405020304" pitchFamily="18" charset="0"/>
              </a:rPr>
              <a:t> de </a:t>
            </a:r>
            <a:r>
              <a:rPr lang="en-US" sz="1600" dirty="0" err="1">
                <a:solidFill>
                  <a:schemeClr val="bg1"/>
                </a:solidFill>
                <a:latin typeface="Times New Roman" panose="02020603050405020304" pitchFamily="18" charset="0"/>
                <a:cs typeface="Times New Roman" panose="02020603050405020304" pitchFamily="18" charset="0"/>
              </a:rPr>
              <a:t>geçici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gerilim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olaylarına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verdiği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sistem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seviyesindeki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tepkiler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kapsamlı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şekilde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değerlendirilebilmektedir</a:t>
            </a:r>
            <a:r>
              <a:rPr lang="en-US" sz="1600" dirty="0">
                <a:solidFill>
                  <a:schemeClr val="bg1"/>
                </a:solidFill>
                <a:latin typeface="Times New Roman" panose="02020603050405020304" pitchFamily="18" charset="0"/>
                <a:cs typeface="Times New Roman" panose="02020603050405020304" pitchFamily="18" charset="0"/>
              </a:rPr>
              <a:t>.</a:t>
            </a:r>
          </a:p>
        </p:txBody>
      </p:sp>
      <p:sp>
        <p:nvSpPr>
          <p:cNvPr id="7" name="Dikdörtgen 6"/>
          <p:cNvSpPr/>
          <p:nvPr/>
        </p:nvSpPr>
        <p:spPr>
          <a:xfrm>
            <a:off x="2056232" y="5976903"/>
            <a:ext cx="5675829" cy="338554"/>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3. </a:t>
            </a:r>
            <a:r>
              <a:rPr lang="en-US" sz="1600" dirty="0" err="1">
                <a:solidFill>
                  <a:schemeClr val="bg1"/>
                </a:solidFill>
                <a:latin typeface="Times New Roman" panose="02020603050405020304" pitchFamily="18" charset="0"/>
                <a:cs typeface="Times New Roman" panose="02020603050405020304" pitchFamily="18" charset="0"/>
              </a:rPr>
              <a:t>LTSpice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üzerinde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Fırçalı</a:t>
            </a:r>
            <a:r>
              <a:rPr lang="en-US" sz="1600" dirty="0">
                <a:solidFill>
                  <a:schemeClr val="bg1"/>
                </a:solidFill>
                <a:latin typeface="Times New Roman" panose="02020603050405020304" pitchFamily="18" charset="0"/>
                <a:cs typeface="Times New Roman" panose="02020603050405020304" pitchFamily="18" charset="0"/>
              </a:rPr>
              <a:t> DC Motor </a:t>
            </a:r>
            <a:r>
              <a:rPr lang="en-US" sz="1600" dirty="0" err="1">
                <a:solidFill>
                  <a:schemeClr val="bg1"/>
                </a:solidFill>
                <a:latin typeface="Times New Roman" panose="02020603050405020304" pitchFamily="18" charset="0"/>
                <a:cs typeface="Times New Roman" panose="02020603050405020304" pitchFamily="18" charset="0"/>
              </a:rPr>
              <a:t>Hız</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Kontrolü</a:t>
            </a:r>
            <a:endParaRPr lang="en-US" sz="1600" dirty="0">
              <a:solidFill>
                <a:schemeClr val="bg1"/>
              </a:solidFill>
              <a:latin typeface="Times New Roman" panose="02020603050405020304" pitchFamily="18" charset="0"/>
              <a:cs typeface="Times New Roman" panose="02020603050405020304" pitchFamily="18" charset="0"/>
            </a:endParaRPr>
          </a:p>
        </p:txBody>
      </p:sp>
      <p:pic>
        <p:nvPicPr>
          <p:cNvPr id="8" name="Resim 7"/>
          <p:cNvPicPr/>
          <p:nvPr/>
        </p:nvPicPr>
        <p:blipFill>
          <a:blip r:embed="rId2"/>
          <a:stretch>
            <a:fillRect/>
          </a:stretch>
        </p:blipFill>
        <p:spPr>
          <a:xfrm>
            <a:off x="2861945" y="4356219"/>
            <a:ext cx="3420110" cy="151955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105"/>
            <a:ext cx="8229600" cy="1143000"/>
          </a:xfrm>
        </p:spPr>
        <p:txBody>
          <a:bodyPr vert="horz" lIns="91440" tIns="45720" rIns="91440" bIns="45720" rtlCol="0" anchor="ctr">
            <a:normAutofit/>
          </a:bodyPr>
          <a:lstStyle/>
          <a:p>
            <a:r>
              <a:rPr lang="en-US" sz="3200" b="1" dirty="0">
                <a:solidFill>
                  <a:srgbClr val="FFFFFF"/>
                </a:solidFill>
              </a:rPr>
              <a:t>2. </a:t>
            </a:r>
            <a:r>
              <a:rPr lang="en-US" sz="3200" b="1" dirty="0" err="1">
                <a:solidFill>
                  <a:srgbClr val="FFFFFF"/>
                </a:solidFill>
              </a:rPr>
              <a:t>Donanım</a:t>
            </a:r>
            <a:r>
              <a:rPr lang="en-US" sz="3200" b="1" dirty="0">
                <a:solidFill>
                  <a:srgbClr val="FFFFFF"/>
                </a:solidFill>
              </a:rPr>
              <a:t> </a:t>
            </a:r>
            <a:r>
              <a:rPr lang="en-US" sz="3200" b="1" dirty="0" err="1">
                <a:solidFill>
                  <a:srgbClr val="FFFFFF"/>
                </a:solidFill>
              </a:rPr>
              <a:t>Tasarımı</a:t>
            </a:r>
            <a:r>
              <a:rPr lang="en-US" sz="3200" b="1" dirty="0">
                <a:solidFill>
                  <a:srgbClr val="FFFFFF"/>
                </a:solidFill>
              </a:rPr>
              <a:t> </a:t>
            </a:r>
            <a:r>
              <a:rPr lang="en-US" sz="3200" b="1" dirty="0" err="1">
                <a:solidFill>
                  <a:srgbClr val="FFFFFF"/>
                </a:solidFill>
              </a:rPr>
              <a:t>ve</a:t>
            </a:r>
            <a:r>
              <a:rPr lang="en-US" sz="3200" b="1" dirty="0">
                <a:solidFill>
                  <a:srgbClr val="FFFFFF"/>
                </a:solidFill>
              </a:rPr>
              <a:t> </a:t>
            </a:r>
            <a:r>
              <a:rPr lang="en-US" sz="3200" b="1" dirty="0" err="1">
                <a:solidFill>
                  <a:srgbClr val="FFFFFF"/>
                </a:solidFill>
              </a:rPr>
              <a:t>Simülasyon</a:t>
            </a:r>
            <a:r>
              <a:rPr lang="en-US" sz="3200" b="1" dirty="0">
                <a:solidFill>
                  <a:srgbClr val="FFFFFF"/>
                </a:solidFill>
              </a:rPr>
              <a:t> </a:t>
            </a:r>
            <a:r>
              <a:rPr lang="en-US" sz="3200" b="1" dirty="0" err="1">
                <a:solidFill>
                  <a:srgbClr val="FFFFFF"/>
                </a:solidFill>
              </a:rPr>
              <a:t>Yaklaşımı</a:t>
            </a:r>
            <a:endParaRPr lang="en-US" sz="3200" b="1" dirty="0">
              <a:solidFill>
                <a:srgbClr val="FFFFFF"/>
              </a:solidFill>
            </a:endParaRPr>
          </a:p>
        </p:txBody>
      </p:sp>
      <p:sp>
        <p:nvSpPr>
          <p:cNvPr id="6" name="Dikdörtgen 5"/>
          <p:cNvSpPr/>
          <p:nvPr/>
        </p:nvSpPr>
        <p:spPr>
          <a:xfrm>
            <a:off x="457200" y="884238"/>
            <a:ext cx="8474383" cy="2308324"/>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Koruma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elemanlarına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paralel</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olarak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kullanılan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iki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kademeli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filtreleme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yapısı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besleme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hattındaki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gürültü</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bileşenlerini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geniş</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frekans</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aralığında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azaltmak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üzere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tasarlanmıştır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Yüksek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frekanslı</a:t>
            </a:r>
            <a:r>
              <a:rPr lang="en-US" sz="1600" dirty="0">
                <a:solidFill>
                  <a:schemeClr val="bg1"/>
                </a:solidFill>
                <a:latin typeface="Times New Roman" panose="02020603050405020304" pitchFamily="18" charset="0"/>
                <a:cs typeface="Times New Roman" panose="02020603050405020304" pitchFamily="18" charset="0"/>
              </a:rPr>
              <a:t> EMI </a:t>
            </a:r>
            <a:r>
              <a:rPr lang="en-US" sz="1600" dirty="0" err="1">
                <a:solidFill>
                  <a:schemeClr val="bg1"/>
                </a:solidFill>
                <a:latin typeface="Times New Roman" panose="02020603050405020304" pitchFamily="18" charset="0"/>
                <a:cs typeface="Times New Roman" panose="02020603050405020304" pitchFamily="18" charset="0"/>
              </a:rPr>
              <a:t>baskılaması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için</a:t>
            </a:r>
            <a:r>
              <a:rPr lang="en-US" sz="1600" dirty="0">
                <a:solidFill>
                  <a:schemeClr val="bg1"/>
                </a:solidFill>
                <a:latin typeface="Times New Roman" panose="02020603050405020304" pitchFamily="18" charset="0"/>
                <a:cs typeface="Times New Roman" panose="02020603050405020304" pitchFamily="18" charset="0"/>
              </a:rPr>
              <a:t> 100 </a:t>
            </a:r>
            <a:r>
              <a:rPr lang="en-US" sz="1600" dirty="0" err="1">
                <a:solidFill>
                  <a:schemeClr val="bg1"/>
                </a:solidFill>
                <a:latin typeface="Times New Roman" panose="02020603050405020304" pitchFamily="18" charset="0"/>
                <a:cs typeface="Times New Roman" panose="02020603050405020304" pitchFamily="18" charset="0"/>
              </a:rPr>
              <a:t>nF</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seramik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kondansatör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tercih</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edilirken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enerji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depolama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gerilim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kararlılığını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artırmak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amacıyla</a:t>
            </a:r>
            <a:r>
              <a:rPr lang="en-US" sz="1600" dirty="0">
                <a:solidFill>
                  <a:schemeClr val="bg1"/>
                </a:solidFill>
                <a:latin typeface="Times New Roman" panose="02020603050405020304" pitchFamily="18" charset="0"/>
                <a:cs typeface="Times New Roman" panose="02020603050405020304" pitchFamily="18" charset="0"/>
              </a:rPr>
              <a:t> 470 µF </a:t>
            </a:r>
            <a:r>
              <a:rPr lang="en-US" sz="1600" dirty="0" err="1">
                <a:solidFill>
                  <a:schemeClr val="bg1"/>
                </a:solidFill>
                <a:latin typeface="Times New Roman" panose="02020603050405020304" pitchFamily="18" charset="0"/>
                <a:cs typeface="Times New Roman" panose="02020603050405020304" pitchFamily="18" charset="0"/>
              </a:rPr>
              <a:t>düşük</a:t>
            </a:r>
            <a:r>
              <a:rPr lang="en-US" sz="1600" dirty="0">
                <a:solidFill>
                  <a:schemeClr val="bg1"/>
                </a:solidFill>
                <a:latin typeface="Times New Roman" panose="02020603050405020304" pitchFamily="18" charset="0"/>
                <a:cs typeface="Times New Roman" panose="02020603050405020304" pitchFamily="18" charset="0"/>
              </a:rPr>
              <a:t> ESR </a:t>
            </a:r>
            <a:r>
              <a:rPr lang="en-US" sz="1600" dirty="0" err="1">
                <a:solidFill>
                  <a:schemeClr val="bg1"/>
                </a:solidFill>
                <a:latin typeface="Times New Roman" panose="02020603050405020304" pitchFamily="18" charset="0"/>
                <a:cs typeface="Times New Roman" panose="02020603050405020304" pitchFamily="18" charset="0"/>
              </a:rPr>
              <a:t>elektrolitik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kondansatör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kullanılmıştır</a:t>
            </a:r>
            <a:r>
              <a:rPr lang="en-US" sz="1600" dirty="0">
                <a:solidFill>
                  <a:schemeClr val="bg1"/>
                </a:solidFill>
                <a:latin typeface="Times New Roman" panose="02020603050405020304" pitchFamily="18" charset="0"/>
                <a:cs typeface="Times New Roman" panose="02020603050405020304" pitchFamily="18" charset="0"/>
              </a:rPr>
              <a:t>. Bu </a:t>
            </a:r>
            <a:r>
              <a:rPr lang="en-US" sz="1600" dirty="0" err="1">
                <a:solidFill>
                  <a:schemeClr val="bg1"/>
                </a:solidFill>
                <a:latin typeface="Times New Roman" panose="02020603050405020304" pitchFamily="18" charset="0"/>
                <a:cs typeface="Times New Roman" panose="02020603050405020304" pitchFamily="18" charset="0"/>
              </a:rPr>
              <a:t>yapı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sayesinde</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sürücüsünün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besleme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hattı</a:t>
            </a:r>
            <a:r>
              <a:rPr lang="en-US" sz="1600" dirty="0">
                <a:solidFill>
                  <a:schemeClr val="bg1"/>
                </a:solidFill>
                <a:latin typeface="Times New Roman" panose="02020603050405020304" pitchFamily="18" charset="0"/>
                <a:cs typeface="Times New Roman" panose="02020603050405020304" pitchFamily="18" charset="0"/>
              </a:rPr>
              <a:t> hem </a:t>
            </a:r>
            <a:r>
              <a:rPr lang="en-US" sz="1600" dirty="0" err="1">
                <a:solidFill>
                  <a:schemeClr val="bg1"/>
                </a:solidFill>
                <a:latin typeface="Times New Roman" panose="02020603050405020304" pitchFamily="18" charset="0"/>
                <a:cs typeface="Times New Roman" panose="02020603050405020304" pitchFamily="18" charset="0"/>
              </a:rPr>
              <a:t>yüksek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frekanslı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bozuculara</a:t>
            </a:r>
            <a:r>
              <a:rPr lang="en-US" sz="1600" dirty="0">
                <a:solidFill>
                  <a:schemeClr val="bg1"/>
                </a:solidFill>
                <a:latin typeface="Times New Roman" panose="02020603050405020304" pitchFamily="18" charset="0"/>
                <a:cs typeface="Times New Roman" panose="02020603050405020304" pitchFamily="18" charset="0"/>
              </a:rPr>
              <a:t> hem de </a:t>
            </a:r>
            <a:r>
              <a:rPr lang="en-US" sz="1600" dirty="0" err="1">
                <a:solidFill>
                  <a:schemeClr val="bg1"/>
                </a:solidFill>
                <a:latin typeface="Times New Roman" panose="02020603050405020304" pitchFamily="18" charset="0"/>
                <a:cs typeface="Times New Roman" panose="02020603050405020304" pitchFamily="18" charset="0"/>
              </a:rPr>
              <a:t>düşük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frekanslı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enerji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dalgalanmalarına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karşı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kararlı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hâle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getirilmektedir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3’de </a:t>
            </a:r>
            <a:r>
              <a:rPr lang="en-US" sz="1600" dirty="0" err="1">
                <a:solidFill>
                  <a:schemeClr val="bg1"/>
                </a:solidFill>
                <a:latin typeface="Times New Roman" panose="02020603050405020304" pitchFamily="18" charset="0"/>
                <a:cs typeface="Times New Roman" panose="02020603050405020304" pitchFamily="18" charset="0"/>
              </a:rPr>
              <a:t>fırçalı</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sürüldüğü</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anda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oluşan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anahtarlama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gösterilirken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4’te </a:t>
            </a:r>
            <a:r>
              <a:rPr lang="en-US" sz="1600" dirty="0" err="1">
                <a:solidFill>
                  <a:schemeClr val="bg1"/>
                </a:solidFill>
                <a:latin typeface="Times New Roman" panose="02020603050405020304" pitchFamily="18" charset="0"/>
                <a:cs typeface="Times New Roman" panose="02020603050405020304" pitchFamily="18" charset="0"/>
              </a:rPr>
              <a:t>bu</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uygulanan</a:t>
            </a:r>
            <a:r>
              <a:rPr lang="en-US" sz="1600" dirty="0">
                <a:solidFill>
                  <a:schemeClr val="bg1"/>
                </a:solidFill>
                <a:latin typeface="Times New Roman" panose="02020603050405020304" pitchFamily="18" charset="0"/>
                <a:cs typeface="Times New Roman" panose="02020603050405020304" pitchFamily="18" charset="0"/>
              </a:rPr>
              <a:t> Pulse </a:t>
            </a:r>
            <a:r>
              <a:rPr lang="en-US" sz="1600" dirty="0" err="1">
                <a:solidFill>
                  <a:schemeClr val="bg1"/>
                </a:solidFill>
                <a:latin typeface="Times New Roman" panose="02020603050405020304" pitchFamily="18" charset="0"/>
                <a:cs typeface="Times New Roman" panose="02020603050405020304" pitchFamily="18" charset="0"/>
              </a:rPr>
              <a:t>sinyallerinin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etkisini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azaltmak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üzere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kullanılan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ters</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polarite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diyotu</a:t>
            </a:r>
            <a:r>
              <a:rPr lang="en-US" sz="1600" dirty="0">
                <a:solidFill>
                  <a:schemeClr val="bg1"/>
                </a:solidFill>
                <a:latin typeface="Times New Roman" panose="02020603050405020304" pitchFamily="18" charset="0"/>
                <a:cs typeface="Times New Roman" panose="02020603050405020304" pitchFamily="18" charset="0"/>
              </a:rPr>
              <a:t>, TVS </a:t>
            </a:r>
            <a:r>
              <a:rPr lang="en-US" sz="1600" dirty="0" err="1">
                <a:solidFill>
                  <a:schemeClr val="bg1"/>
                </a:solidFill>
                <a:latin typeface="Times New Roman" panose="02020603050405020304" pitchFamily="18" charset="0"/>
                <a:cs typeface="Times New Roman" panose="02020603050405020304" pitchFamily="18" charset="0"/>
              </a:rPr>
              <a:t>diyot</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iki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kademeli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giriş</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filtresinden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oluşan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devresi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sunulmaktadır</a:t>
            </a:r>
            <a:r>
              <a:rPr lang="en-US" sz="1600" dirty="0">
                <a:solidFill>
                  <a:schemeClr val="bg1"/>
                </a:solidFill>
                <a:latin typeface="Times New Roman" panose="02020603050405020304" pitchFamily="18" charset="0"/>
                <a:cs typeface="Times New Roman" panose="02020603050405020304" pitchFamily="18" charset="0"/>
              </a:rPr>
              <a:t>.</a:t>
            </a:r>
          </a:p>
        </p:txBody>
      </p:sp>
      <p:sp>
        <p:nvSpPr>
          <p:cNvPr id="7" name="Dikdörtgen 6"/>
          <p:cNvSpPr/>
          <p:nvPr/>
        </p:nvSpPr>
        <p:spPr>
          <a:xfrm>
            <a:off x="2757086" y="4898241"/>
            <a:ext cx="7552266" cy="338554"/>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4. DC Motor </a:t>
            </a:r>
            <a:r>
              <a:rPr lang="en-US" sz="1600" dirty="0" err="1">
                <a:solidFill>
                  <a:schemeClr val="bg1"/>
                </a:solidFill>
                <a:latin typeface="Times New Roman" panose="02020603050405020304" pitchFamily="18" charset="0"/>
                <a:cs typeface="Times New Roman" panose="02020603050405020304" pitchFamily="18" charset="0"/>
              </a:rPr>
              <a:t>Koruma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donanım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devresi</a:t>
            </a:r>
            <a:endParaRPr lang="en-US" sz="1600" dirty="0">
              <a:solidFill>
                <a:schemeClr val="bg1"/>
              </a:solidFill>
              <a:latin typeface="Times New Roman" panose="02020603050405020304" pitchFamily="18" charset="0"/>
              <a:cs typeface="Times New Roman" panose="02020603050405020304" pitchFamily="18" charset="0"/>
            </a:endParaRPr>
          </a:p>
        </p:txBody>
      </p:sp>
      <p:pic>
        <p:nvPicPr>
          <p:cNvPr id="8" name="Resim 7"/>
          <p:cNvPicPr/>
          <p:nvPr/>
        </p:nvPicPr>
        <p:blipFill>
          <a:blip r:embed="rId2"/>
          <a:stretch>
            <a:fillRect/>
          </a:stretch>
        </p:blipFill>
        <p:spPr>
          <a:xfrm>
            <a:off x="2596351" y="3429000"/>
            <a:ext cx="4196080" cy="140208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sz="3200" b="1" dirty="0">
                <a:solidFill>
                  <a:srgbClr val="FFFFFF"/>
                </a:solidFill>
              </a:rPr>
              <a:t>3. </a:t>
            </a:r>
            <a:r>
              <a:rPr lang="en-US" sz="3200" b="1" dirty="0" err="1">
                <a:solidFill>
                  <a:srgbClr val="FFFFFF"/>
                </a:solidFill>
              </a:rPr>
              <a:t>Simülasyon</a:t>
            </a:r>
            <a:r>
              <a:rPr lang="en-US" sz="3200" b="1" dirty="0">
                <a:solidFill>
                  <a:srgbClr val="FFFFFF"/>
                </a:solidFill>
              </a:rPr>
              <a:t> </a:t>
            </a:r>
            <a:r>
              <a:rPr lang="en-US" sz="3200" b="1" dirty="0" err="1">
                <a:solidFill>
                  <a:srgbClr val="FFFFFF"/>
                </a:solidFill>
              </a:rPr>
              <a:t>Sonuçları</a:t>
            </a:r>
            <a:r>
              <a:rPr lang="en-US" sz="3200" b="1" dirty="0">
                <a:solidFill>
                  <a:srgbClr val="FFFFFF"/>
                </a:solidFill>
              </a:rPr>
              <a:t> </a:t>
            </a:r>
            <a:r>
              <a:rPr lang="en-US" sz="3200" b="1" dirty="0" err="1">
                <a:solidFill>
                  <a:srgbClr val="FFFFFF"/>
                </a:solidFill>
              </a:rPr>
              <a:t>ve</a:t>
            </a:r>
            <a:r>
              <a:rPr lang="en-US" sz="3200" b="1" dirty="0">
                <a:solidFill>
                  <a:srgbClr val="FFFFFF"/>
                </a:solidFill>
              </a:rPr>
              <a:t> </a:t>
            </a:r>
            <a:r>
              <a:rPr lang="en-US" sz="3200" b="1" dirty="0" err="1">
                <a:solidFill>
                  <a:srgbClr val="FFFFFF"/>
                </a:solidFill>
              </a:rPr>
              <a:t>Genel</a:t>
            </a:r>
            <a:r>
              <a:rPr lang="en-US" sz="3200" b="1" dirty="0">
                <a:solidFill>
                  <a:srgbClr val="FFFFFF"/>
                </a:solidFill>
              </a:rPr>
              <a:t> </a:t>
            </a:r>
            <a:r>
              <a:rPr lang="en-US" sz="3200" b="1" dirty="0" err="1">
                <a:solidFill>
                  <a:srgbClr val="FFFFFF"/>
                </a:solidFill>
              </a:rPr>
              <a:t>Değerlendirme</a:t>
            </a:r>
            <a:endParaRPr lang="en-US" sz="3200" b="1" dirty="0">
              <a:solidFill>
                <a:srgbClr val="FFFFFF"/>
              </a:solidFill>
            </a:endParaRPr>
          </a:p>
        </p:txBody>
      </p:sp>
      <p:sp>
        <p:nvSpPr>
          <p:cNvPr id="6" name="Dikdörtgen 5"/>
          <p:cNvSpPr/>
          <p:nvPr/>
        </p:nvSpPr>
        <p:spPr>
          <a:xfrm>
            <a:off x="364066" y="1417638"/>
            <a:ext cx="8525934" cy="1323439"/>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5’te </a:t>
            </a:r>
            <a:r>
              <a:rPr lang="en-US" sz="1600" dirty="0" err="1">
                <a:solidFill>
                  <a:schemeClr val="bg1"/>
                </a:solidFill>
                <a:latin typeface="Times New Roman" panose="02020603050405020304" pitchFamily="18" charset="0"/>
                <a:cs typeface="Times New Roman" panose="02020603050405020304" pitchFamily="18" charset="0"/>
              </a:rPr>
              <a:t>verilen</a:t>
            </a:r>
            <a:r>
              <a:rPr lang="en-US" sz="1600" dirty="0">
                <a:solidFill>
                  <a:schemeClr val="bg1"/>
                </a:solidFill>
                <a:latin typeface="Times New Roman" panose="02020603050405020304" pitchFamily="18" charset="0"/>
                <a:cs typeface="Times New Roman" panose="02020603050405020304" pitchFamily="18" charset="0"/>
              </a:rPr>
              <a:t> Pulse 1 </a:t>
            </a:r>
            <a:r>
              <a:rPr lang="en-US" sz="1600" dirty="0" err="1">
                <a:solidFill>
                  <a:schemeClr val="bg1"/>
                </a:solidFill>
                <a:latin typeface="Times New Roman" panose="02020603050405020304" pitchFamily="18" charset="0"/>
                <a:cs typeface="Times New Roman" panose="02020603050405020304" pitchFamily="18" charset="0"/>
              </a:rPr>
              <a:t>darbesi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marş</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sırasında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akünün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ani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gerilim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çökmesi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senaryosunu</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temsil</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etmektedir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Korumasız</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yapıda</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besleme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hattının</a:t>
            </a:r>
            <a:r>
              <a:rPr lang="en-US" sz="1600" dirty="0">
                <a:solidFill>
                  <a:schemeClr val="bg1"/>
                </a:solidFill>
                <a:latin typeface="Times New Roman" panose="02020603050405020304" pitchFamily="18" charset="0"/>
                <a:cs typeface="Times New Roman" panose="02020603050405020304" pitchFamily="18" charset="0"/>
              </a:rPr>
              <a:t> –28 V </a:t>
            </a:r>
            <a:r>
              <a:rPr lang="en-US" sz="1600" dirty="0" err="1">
                <a:solidFill>
                  <a:schemeClr val="bg1"/>
                </a:solidFill>
                <a:latin typeface="Times New Roman" panose="02020603050405020304" pitchFamily="18" charset="0"/>
                <a:cs typeface="Times New Roman" panose="02020603050405020304" pitchFamily="18" charset="0"/>
              </a:rPr>
              <a:t>seviyelerine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kadar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çökerek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akım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kesilmesine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yol</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açtığı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ardından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sistemde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belirgin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toparlanma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gecikmesi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oluştuğu</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görülmüştür</a:t>
            </a:r>
            <a:r>
              <a:rPr lang="en-US" sz="1600" dirty="0">
                <a:solidFill>
                  <a:schemeClr val="bg1"/>
                </a:solidFill>
                <a:latin typeface="Times New Roman" panose="02020603050405020304" pitchFamily="18" charset="0"/>
                <a:cs typeface="Times New Roman" panose="02020603050405020304" pitchFamily="18" charset="0"/>
              </a:rPr>
              <a:t>. Buna </a:t>
            </a:r>
            <a:r>
              <a:rPr lang="en-US" sz="1600" dirty="0" err="1">
                <a:solidFill>
                  <a:schemeClr val="bg1"/>
                </a:solidFill>
                <a:latin typeface="Times New Roman" panose="02020603050405020304" pitchFamily="18" charset="0"/>
                <a:cs typeface="Times New Roman" panose="02020603050405020304" pitchFamily="18" charset="0"/>
              </a:rPr>
              <a:t>karşılık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önerilen</a:t>
            </a:r>
            <a:r>
              <a:rPr lang="en-US" sz="1600" dirty="0">
                <a:solidFill>
                  <a:schemeClr val="bg1"/>
                </a:solidFill>
                <a:latin typeface="Times New Roman" panose="02020603050405020304" pitchFamily="18" charset="0"/>
                <a:cs typeface="Times New Roman" panose="02020603050405020304" pitchFamily="18" charset="0"/>
              </a:rPr>
              <a:t> TVS </a:t>
            </a:r>
            <a:r>
              <a:rPr lang="en-US" sz="1600" dirty="0" err="1">
                <a:solidFill>
                  <a:schemeClr val="bg1"/>
                </a:solidFill>
                <a:latin typeface="Times New Roman" panose="02020603050405020304" pitchFamily="18" charset="0"/>
                <a:cs typeface="Times New Roman" panose="02020603050405020304" pitchFamily="18" charset="0"/>
              </a:rPr>
              <a:t>diyot</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hızlı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toparlanmalı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doğrultucu</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kapasitif</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filtre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katı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ile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korunan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yapıda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gerilim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düşümü</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büyük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ölçüde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sınırlanmıştır</a:t>
            </a:r>
            <a:r>
              <a:rPr lang="en-US" sz="1600" dirty="0">
                <a:solidFill>
                  <a:schemeClr val="bg1"/>
                </a:solidFill>
                <a:latin typeface="Times New Roman" panose="02020603050405020304" pitchFamily="18" charset="0"/>
                <a:cs typeface="Times New Roman" panose="02020603050405020304" pitchFamily="18" charset="0"/>
              </a:rPr>
              <a:t>.</a:t>
            </a:r>
            <a:endParaRPr lang="en-US" sz="1600" dirty="0">
              <a:solidFill>
                <a:schemeClr val="bg1"/>
              </a:solidFill>
              <a:latin typeface="Times New Roman" panose="02020603050405020304" pitchFamily="18" charset="0"/>
              <a:cs typeface="Times New Roman" panose="02020603050405020304" pitchFamily="18" charset="0"/>
            </a:endParaRPr>
          </a:p>
        </p:txBody>
      </p:sp>
      <p:pic>
        <p:nvPicPr>
          <p:cNvPr id="8" name="Resim 7"/>
          <p:cNvPicPr/>
          <p:nvPr/>
        </p:nvPicPr>
        <p:blipFill>
          <a:blip r:embed="rId2"/>
          <a:stretch>
            <a:fillRect/>
          </a:stretch>
        </p:blipFill>
        <p:spPr>
          <a:xfrm>
            <a:off x="1761278" y="2924776"/>
            <a:ext cx="5731510" cy="1130935"/>
          </a:xfrm>
          <a:prstGeom prst="rect">
            <a:avLst/>
          </a:prstGeom>
        </p:spPr>
      </p:pic>
      <p:sp>
        <p:nvSpPr>
          <p:cNvPr id="11" name="Dikdörtgen 10"/>
          <p:cNvSpPr/>
          <p:nvPr/>
        </p:nvSpPr>
        <p:spPr>
          <a:xfrm>
            <a:off x="2341033" y="4239411"/>
            <a:ext cx="4572000" cy="584775"/>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5. ISO 7637-2 Pulse 1 </a:t>
            </a:r>
            <a:r>
              <a:rPr lang="en-US" sz="1600" dirty="0" err="1">
                <a:solidFill>
                  <a:schemeClr val="bg1"/>
                </a:solidFill>
                <a:latin typeface="Times New Roman" panose="02020603050405020304" pitchFamily="18" charset="0"/>
                <a:cs typeface="Times New Roman" panose="02020603050405020304" pitchFamily="18" charset="0"/>
              </a:rPr>
              <a:t>Darbesinin</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Modeline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Uygulaması</a:t>
            </a:r>
            <a:r>
              <a:rPr lang="en-US" sz="1600" dirty="0">
                <a:solidFill>
                  <a:schemeClr val="bg1"/>
                </a:solidFill>
                <a:latin typeface="Times New Roman" panose="02020603050405020304" pitchFamily="18" charset="0"/>
                <a:cs typeface="Times New Roman" panose="02020603050405020304" pitchFamily="18" charset="0"/>
              </a:rPr>
              <a:t>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sz="3200" b="1" dirty="0">
                <a:solidFill>
                  <a:srgbClr val="FFFFFF"/>
                </a:solidFill>
              </a:rPr>
              <a:t>3. </a:t>
            </a:r>
            <a:r>
              <a:rPr lang="en-US" sz="3200" b="1" dirty="0" err="1">
                <a:solidFill>
                  <a:srgbClr val="FFFFFF"/>
                </a:solidFill>
              </a:rPr>
              <a:t>Simülasyon</a:t>
            </a:r>
            <a:r>
              <a:rPr lang="en-US" sz="3200" b="1" dirty="0">
                <a:solidFill>
                  <a:srgbClr val="FFFFFF"/>
                </a:solidFill>
              </a:rPr>
              <a:t> </a:t>
            </a:r>
            <a:r>
              <a:rPr lang="en-US" sz="3200" b="1" dirty="0" err="1">
                <a:solidFill>
                  <a:srgbClr val="FFFFFF"/>
                </a:solidFill>
              </a:rPr>
              <a:t>Sonuçları</a:t>
            </a:r>
            <a:r>
              <a:rPr lang="en-US" sz="3200" b="1" dirty="0">
                <a:solidFill>
                  <a:srgbClr val="FFFFFF"/>
                </a:solidFill>
              </a:rPr>
              <a:t> </a:t>
            </a:r>
            <a:r>
              <a:rPr lang="en-US" sz="3200" b="1" dirty="0" err="1">
                <a:solidFill>
                  <a:srgbClr val="FFFFFF"/>
                </a:solidFill>
              </a:rPr>
              <a:t>ve</a:t>
            </a:r>
            <a:r>
              <a:rPr lang="en-US" sz="3200" b="1" dirty="0">
                <a:solidFill>
                  <a:srgbClr val="FFFFFF"/>
                </a:solidFill>
              </a:rPr>
              <a:t> </a:t>
            </a:r>
            <a:r>
              <a:rPr lang="en-US" sz="3200" b="1" dirty="0" err="1">
                <a:solidFill>
                  <a:srgbClr val="FFFFFF"/>
                </a:solidFill>
              </a:rPr>
              <a:t>Genel</a:t>
            </a:r>
            <a:r>
              <a:rPr lang="en-US" sz="3200" b="1" dirty="0">
                <a:solidFill>
                  <a:srgbClr val="FFFFFF"/>
                </a:solidFill>
              </a:rPr>
              <a:t> </a:t>
            </a:r>
            <a:r>
              <a:rPr lang="en-US" sz="3200" b="1" dirty="0" err="1">
                <a:solidFill>
                  <a:srgbClr val="FFFFFF"/>
                </a:solidFill>
              </a:rPr>
              <a:t>Değerlendirme</a:t>
            </a:r>
            <a:endParaRPr lang="en-US" sz="3200" b="1" dirty="0">
              <a:solidFill>
                <a:srgbClr val="FFFFFF"/>
              </a:solidFill>
            </a:endParaRPr>
          </a:p>
        </p:txBody>
      </p:sp>
      <p:pic>
        <p:nvPicPr>
          <p:cNvPr id="9" name="Resim 8"/>
          <p:cNvPicPr/>
          <p:nvPr/>
        </p:nvPicPr>
        <p:blipFill>
          <a:blip r:embed="rId2"/>
          <a:stretch>
            <a:fillRect/>
          </a:stretch>
        </p:blipFill>
        <p:spPr>
          <a:xfrm>
            <a:off x="170053" y="1484599"/>
            <a:ext cx="5731510" cy="1106170"/>
          </a:xfrm>
          <a:prstGeom prst="rect">
            <a:avLst/>
          </a:prstGeom>
        </p:spPr>
      </p:pic>
      <p:pic>
        <p:nvPicPr>
          <p:cNvPr id="10" name="Resim 9"/>
          <p:cNvPicPr/>
          <p:nvPr/>
        </p:nvPicPr>
        <p:blipFill>
          <a:blip r:embed="rId3"/>
          <a:stretch>
            <a:fillRect/>
          </a:stretch>
        </p:blipFill>
        <p:spPr>
          <a:xfrm>
            <a:off x="170053" y="3549914"/>
            <a:ext cx="5731510" cy="1113790"/>
          </a:xfrm>
          <a:prstGeom prst="rect">
            <a:avLst/>
          </a:prstGeom>
        </p:spPr>
      </p:pic>
      <p:sp>
        <p:nvSpPr>
          <p:cNvPr id="3" name="Dikdörtgen 2"/>
          <p:cNvSpPr/>
          <p:nvPr/>
        </p:nvSpPr>
        <p:spPr>
          <a:xfrm>
            <a:off x="615696" y="4663704"/>
            <a:ext cx="4572000" cy="584775"/>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7. ISO 7637-2 Pulse 2b (+37 V, 50 µs) </a:t>
            </a:r>
            <a:r>
              <a:rPr lang="en-US" sz="1600" dirty="0" err="1">
                <a:solidFill>
                  <a:schemeClr val="bg1"/>
                </a:solidFill>
                <a:latin typeface="Times New Roman" panose="02020603050405020304" pitchFamily="18" charset="0"/>
                <a:cs typeface="Times New Roman" panose="02020603050405020304" pitchFamily="18" charset="0"/>
              </a:rPr>
              <a:t>Darbesinin</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Modeline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Uygulaması</a:t>
            </a:r>
            <a:r>
              <a:rPr lang="en-US" sz="1600" dirty="0">
                <a:solidFill>
                  <a:schemeClr val="bg1"/>
                </a:solidFill>
                <a:latin typeface="Times New Roman" panose="02020603050405020304" pitchFamily="18" charset="0"/>
                <a:cs typeface="Times New Roman" panose="02020603050405020304" pitchFamily="18" charset="0"/>
              </a:rPr>
              <a:t> </a:t>
            </a:r>
          </a:p>
        </p:txBody>
      </p:sp>
      <p:sp>
        <p:nvSpPr>
          <p:cNvPr id="4" name="Dikdörtgen 3"/>
          <p:cNvSpPr/>
          <p:nvPr/>
        </p:nvSpPr>
        <p:spPr>
          <a:xfrm>
            <a:off x="615696" y="2714803"/>
            <a:ext cx="4572000" cy="584775"/>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6. ISO 7637-2 Pulse 2a (+37 V, 50 µs) </a:t>
            </a:r>
            <a:r>
              <a:rPr lang="en-US" sz="1600" dirty="0" err="1">
                <a:solidFill>
                  <a:schemeClr val="bg1"/>
                </a:solidFill>
                <a:latin typeface="Times New Roman" panose="02020603050405020304" pitchFamily="18" charset="0"/>
                <a:cs typeface="Times New Roman" panose="02020603050405020304" pitchFamily="18" charset="0"/>
              </a:rPr>
              <a:t>Darbesinin</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Modeline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Uygulaması</a:t>
            </a:r>
            <a:r>
              <a:rPr lang="en-US" sz="1600" dirty="0">
                <a:solidFill>
                  <a:schemeClr val="bg1"/>
                </a:solidFill>
                <a:latin typeface="Times New Roman" panose="02020603050405020304" pitchFamily="18" charset="0"/>
                <a:cs typeface="Times New Roman" panose="02020603050405020304" pitchFamily="18" charset="0"/>
              </a:rPr>
              <a:t> </a:t>
            </a:r>
          </a:p>
        </p:txBody>
      </p:sp>
      <p:sp>
        <p:nvSpPr>
          <p:cNvPr id="12" name="Dikdörtgen 11"/>
          <p:cNvSpPr/>
          <p:nvPr/>
        </p:nvSpPr>
        <p:spPr>
          <a:xfrm>
            <a:off x="6083808" y="1304544"/>
            <a:ext cx="2828544" cy="4601152"/>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6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7’de </a:t>
            </a:r>
            <a:r>
              <a:rPr lang="en-US" sz="1600" dirty="0" err="1">
                <a:solidFill>
                  <a:schemeClr val="bg1"/>
                </a:solidFill>
                <a:latin typeface="Times New Roman" panose="02020603050405020304" pitchFamily="18" charset="0"/>
                <a:cs typeface="Times New Roman" panose="02020603050405020304" pitchFamily="18" charset="0"/>
              </a:rPr>
              <a:t>sunulan</a:t>
            </a:r>
            <a:r>
              <a:rPr lang="en-US" sz="1600" dirty="0">
                <a:solidFill>
                  <a:schemeClr val="bg1"/>
                </a:solidFill>
                <a:latin typeface="Times New Roman" panose="02020603050405020304" pitchFamily="18" charset="0"/>
                <a:cs typeface="Times New Roman" panose="02020603050405020304" pitchFamily="18" charset="0"/>
              </a:rPr>
              <a:t> Pulse 2a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Pulse 2b </a:t>
            </a:r>
            <a:r>
              <a:rPr lang="en-US" sz="1600" dirty="0" err="1">
                <a:solidFill>
                  <a:schemeClr val="bg1"/>
                </a:solidFill>
                <a:latin typeface="Times New Roman" panose="02020603050405020304" pitchFamily="18" charset="0"/>
                <a:cs typeface="Times New Roman" panose="02020603050405020304" pitchFamily="18" charset="0"/>
              </a:rPr>
              <a:t>darbeleri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araç</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üzerindeki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endüktif</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yük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anahtarlamalarından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kaynaklanan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pozitif</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gerilim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sıçramalarını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temsil</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etmektedir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Korumasız</a:t>
            </a:r>
            <a:r>
              <a:rPr lang="en-US" sz="1600" dirty="0">
                <a:solidFill>
                  <a:schemeClr val="bg1"/>
                </a:solidFill>
                <a:latin typeface="Times New Roman" panose="02020603050405020304" pitchFamily="18" charset="0"/>
                <a:cs typeface="Times New Roman" panose="02020603050405020304" pitchFamily="18" charset="0"/>
              </a:rPr>
              <a:t> H-</a:t>
            </a:r>
            <a:r>
              <a:rPr lang="en-US" sz="1600" dirty="0" err="1">
                <a:solidFill>
                  <a:schemeClr val="bg1"/>
                </a:solidFill>
                <a:latin typeface="Times New Roman" panose="02020603050405020304" pitchFamily="18" charset="0"/>
                <a:cs typeface="Times New Roman" panose="02020603050405020304" pitchFamily="18" charset="0"/>
              </a:rPr>
              <a:t>köprü</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yapısında</a:t>
            </a:r>
            <a:r>
              <a:rPr lang="en-US" sz="1600" dirty="0">
                <a:solidFill>
                  <a:schemeClr val="bg1"/>
                </a:solidFill>
                <a:latin typeface="Times New Roman" panose="02020603050405020304" pitchFamily="18" charset="0"/>
                <a:cs typeface="Times New Roman" panose="02020603050405020304" pitchFamily="18" charset="0"/>
              </a:rPr>
              <a:t> MOSFET drain-source </a:t>
            </a:r>
            <a:r>
              <a:rPr lang="en-US" sz="1600" dirty="0" err="1">
                <a:solidFill>
                  <a:schemeClr val="bg1"/>
                </a:solidFill>
                <a:latin typeface="Times New Roman" panose="02020603050405020304" pitchFamily="18" charset="0"/>
                <a:cs typeface="Times New Roman" panose="02020603050405020304" pitchFamily="18" charset="0"/>
              </a:rPr>
              <a:t>gerilimleri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kısa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süreli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olarak</a:t>
            </a:r>
            <a:r>
              <a:rPr lang="en-US" sz="1600" dirty="0">
                <a:solidFill>
                  <a:schemeClr val="bg1"/>
                </a:solidFill>
                <a:latin typeface="Times New Roman" panose="02020603050405020304" pitchFamily="18" charset="0"/>
                <a:cs typeface="Times New Roman" panose="02020603050405020304" pitchFamily="18" charset="0"/>
              </a:rPr>
              <a:t> nominal </a:t>
            </a:r>
            <a:r>
              <a:rPr lang="en-US" sz="1600" dirty="0" err="1">
                <a:solidFill>
                  <a:schemeClr val="bg1"/>
                </a:solidFill>
                <a:latin typeface="Times New Roman" panose="02020603050405020304" pitchFamily="18" charset="0"/>
                <a:cs typeface="Times New Roman" panose="02020603050405020304" pitchFamily="18" charset="0"/>
              </a:rPr>
              <a:t>çalışma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sınırlarının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üzerine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çıkmış</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bu</a:t>
            </a:r>
            <a:r>
              <a:rPr lang="en-US" sz="1600" dirty="0">
                <a:solidFill>
                  <a:schemeClr val="bg1"/>
                </a:solidFill>
                <a:latin typeface="Times New Roman" panose="02020603050405020304" pitchFamily="18" charset="0"/>
                <a:cs typeface="Times New Roman" panose="02020603050405020304" pitchFamily="18" charset="0"/>
              </a:rPr>
              <a:t> durum </a:t>
            </a:r>
            <a:r>
              <a:rPr lang="en-US" sz="1600" dirty="0" err="1">
                <a:solidFill>
                  <a:schemeClr val="bg1"/>
                </a:solidFill>
                <a:latin typeface="Times New Roman" panose="02020603050405020304" pitchFamily="18" charset="0"/>
                <a:cs typeface="Times New Roman" panose="02020603050405020304" pitchFamily="18" charset="0"/>
              </a:rPr>
              <a:t>özellikle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yüksek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taraf</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MOSFET’te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aşırı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zorlanmaya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neden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olmuştur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devresi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uygulanmış</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durumda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ise</a:t>
            </a:r>
            <a:r>
              <a:rPr lang="en-US" sz="1600" dirty="0">
                <a:solidFill>
                  <a:schemeClr val="bg1"/>
                </a:solidFill>
                <a:latin typeface="Times New Roman" panose="02020603050405020304" pitchFamily="18" charset="0"/>
                <a:cs typeface="Times New Roman" panose="02020603050405020304" pitchFamily="18" charset="0"/>
              </a:rPr>
              <a:t> TVS </a:t>
            </a:r>
            <a:r>
              <a:rPr lang="en-US" sz="1600" dirty="0" err="1">
                <a:solidFill>
                  <a:schemeClr val="bg1"/>
                </a:solidFill>
                <a:latin typeface="Times New Roman" panose="02020603050405020304" pitchFamily="18" charset="0"/>
                <a:cs typeface="Times New Roman" panose="02020603050405020304" pitchFamily="18" charset="0"/>
              </a:rPr>
              <a:t>diyotun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enerjiyi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üzerine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alarak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gerilim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tepe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değerlerini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kırptığı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gözlemlenmiştir</a:t>
            </a:r>
            <a:r>
              <a:rPr lang="en-US" sz="1600" dirty="0">
                <a:solidFill>
                  <a:schemeClr val="bg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288640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9904"/>
            <a:ext cx="8229600" cy="1143000"/>
          </a:xfrm>
        </p:spPr>
        <p:txBody>
          <a:bodyPr vert="horz" lIns="91440" tIns="45720" rIns="91440" bIns="45720" rtlCol="0" anchor="ctr">
            <a:normAutofit/>
          </a:bodyPr>
          <a:lstStyle/>
          <a:p>
            <a:r>
              <a:rPr lang="en-US" sz="3200" b="1" dirty="0">
                <a:solidFill>
                  <a:srgbClr val="FFFFFF"/>
                </a:solidFill>
              </a:rPr>
              <a:t>3. </a:t>
            </a:r>
            <a:r>
              <a:rPr lang="en-US" sz="3200" b="1" dirty="0" err="1">
                <a:solidFill>
                  <a:srgbClr val="FFFFFF"/>
                </a:solidFill>
              </a:rPr>
              <a:t>Simülasyon</a:t>
            </a:r>
            <a:r>
              <a:rPr lang="en-US" sz="3200" b="1" dirty="0">
                <a:solidFill>
                  <a:srgbClr val="FFFFFF"/>
                </a:solidFill>
              </a:rPr>
              <a:t> </a:t>
            </a:r>
            <a:r>
              <a:rPr lang="en-US" sz="3200" b="1" dirty="0" err="1">
                <a:solidFill>
                  <a:srgbClr val="FFFFFF"/>
                </a:solidFill>
              </a:rPr>
              <a:t>Sonuçları</a:t>
            </a:r>
            <a:r>
              <a:rPr lang="en-US" sz="3200" b="1" dirty="0">
                <a:solidFill>
                  <a:srgbClr val="FFFFFF"/>
                </a:solidFill>
              </a:rPr>
              <a:t> </a:t>
            </a:r>
            <a:r>
              <a:rPr lang="en-US" sz="3200" b="1" dirty="0" err="1">
                <a:solidFill>
                  <a:srgbClr val="FFFFFF"/>
                </a:solidFill>
              </a:rPr>
              <a:t>ve</a:t>
            </a:r>
            <a:r>
              <a:rPr lang="en-US" sz="3200" b="1" dirty="0">
                <a:solidFill>
                  <a:srgbClr val="FFFFFF"/>
                </a:solidFill>
              </a:rPr>
              <a:t> </a:t>
            </a:r>
            <a:r>
              <a:rPr lang="en-US" sz="3200" b="1" dirty="0" err="1">
                <a:solidFill>
                  <a:srgbClr val="FFFFFF"/>
                </a:solidFill>
              </a:rPr>
              <a:t>Genel</a:t>
            </a:r>
            <a:r>
              <a:rPr lang="en-US" sz="3200" b="1" dirty="0">
                <a:solidFill>
                  <a:srgbClr val="FFFFFF"/>
                </a:solidFill>
              </a:rPr>
              <a:t> </a:t>
            </a:r>
            <a:r>
              <a:rPr lang="en-US" sz="3200" b="1" dirty="0" err="1">
                <a:solidFill>
                  <a:srgbClr val="FFFFFF"/>
                </a:solidFill>
              </a:rPr>
              <a:t>Değerlendirme</a:t>
            </a:r>
            <a:endParaRPr lang="en-US" sz="3200" b="1" dirty="0">
              <a:solidFill>
                <a:srgbClr val="FFFFFF"/>
              </a:solidFill>
            </a:endParaRPr>
          </a:p>
        </p:txBody>
      </p:sp>
      <p:sp>
        <p:nvSpPr>
          <p:cNvPr id="6" name="Dikdörtgen 5"/>
          <p:cNvSpPr/>
          <p:nvPr/>
        </p:nvSpPr>
        <p:spPr>
          <a:xfrm>
            <a:off x="128016" y="1080474"/>
            <a:ext cx="8887968" cy="6740307"/>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8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9’da </a:t>
            </a:r>
            <a:r>
              <a:rPr lang="en-US" sz="1600" dirty="0" err="1">
                <a:solidFill>
                  <a:schemeClr val="bg1"/>
                </a:solidFill>
                <a:latin typeface="Times New Roman" panose="02020603050405020304" pitchFamily="18" charset="0"/>
                <a:cs typeface="Times New Roman" panose="02020603050405020304" pitchFamily="18" charset="0"/>
              </a:rPr>
              <a:t>gösterilen</a:t>
            </a:r>
            <a:r>
              <a:rPr lang="en-US" sz="1600" dirty="0">
                <a:solidFill>
                  <a:schemeClr val="bg1"/>
                </a:solidFill>
                <a:latin typeface="Times New Roman" panose="02020603050405020304" pitchFamily="18" charset="0"/>
                <a:cs typeface="Times New Roman" panose="02020603050405020304" pitchFamily="18" charset="0"/>
              </a:rPr>
              <a:t> Pulse 3a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Pulse 3b </a:t>
            </a:r>
            <a:r>
              <a:rPr lang="en-US" sz="1600" dirty="0" err="1">
                <a:solidFill>
                  <a:schemeClr val="bg1"/>
                </a:solidFill>
                <a:latin typeface="Times New Roman" panose="02020603050405020304" pitchFamily="18" charset="0"/>
                <a:cs typeface="Times New Roman" panose="02020603050405020304" pitchFamily="18" charset="0"/>
              </a:rPr>
              <a:t>darbeleri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yüksek</a:t>
            </a:r>
            <a:r>
              <a:rPr lang="en-US" sz="1600" dirty="0">
                <a:solidFill>
                  <a:schemeClr val="bg1"/>
                </a:solidFill>
                <a:latin typeface="Times New Roman" panose="02020603050405020304" pitchFamily="18" charset="0"/>
                <a:cs typeface="Times New Roman" panose="02020603050405020304" pitchFamily="18" charset="0"/>
              </a:rPr>
              <a:t> dv/</a:t>
            </a:r>
            <a:r>
              <a:rPr lang="en-US" sz="1600" dirty="0" err="1">
                <a:solidFill>
                  <a:schemeClr val="bg1"/>
                </a:solidFill>
                <a:latin typeface="Times New Roman" panose="02020603050405020304" pitchFamily="18" charset="0"/>
                <a:cs typeface="Times New Roman" panose="02020603050405020304" pitchFamily="18" charset="0"/>
              </a:rPr>
              <a:t>dt</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içeren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hızlı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transientlerdir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özellikle</a:t>
            </a:r>
            <a:r>
              <a:rPr lang="en-US" sz="1600" dirty="0">
                <a:solidFill>
                  <a:schemeClr val="bg1"/>
                </a:solidFill>
                <a:latin typeface="Times New Roman" panose="02020603050405020304" pitchFamily="18" charset="0"/>
                <a:cs typeface="Times New Roman" panose="02020603050405020304" pitchFamily="18" charset="0"/>
              </a:rPr>
              <a:t> EMI </a:t>
            </a:r>
            <a:r>
              <a:rPr lang="en-US" sz="1600" dirty="0" err="1">
                <a:solidFill>
                  <a:schemeClr val="bg1"/>
                </a:solidFill>
                <a:latin typeface="Times New Roman" panose="02020603050405020304" pitchFamily="18" charset="0"/>
                <a:cs typeface="Times New Roman" panose="02020603050405020304" pitchFamily="18" charset="0"/>
              </a:rPr>
              <a:t>kaynaklı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bozunumlara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karşı</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sürücüsünün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dayanımını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sınamaktadır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Korumasız</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yapıda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bu</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darbeler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besleme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hattında</a:t>
            </a:r>
            <a:r>
              <a:rPr lang="en-US" sz="1600" dirty="0">
                <a:solidFill>
                  <a:schemeClr val="bg1"/>
                </a:solidFill>
                <a:latin typeface="Times New Roman" panose="02020603050405020304" pitchFamily="18" charset="0"/>
                <a:cs typeface="Times New Roman" panose="02020603050405020304" pitchFamily="18" charset="0"/>
              </a:rPr>
              <a:t> 50–70 V </a:t>
            </a:r>
            <a:r>
              <a:rPr lang="en-US" sz="1600" dirty="0" err="1">
                <a:solidFill>
                  <a:schemeClr val="bg1"/>
                </a:solidFill>
                <a:latin typeface="Times New Roman" panose="02020603050405020304" pitchFamily="18" charset="0"/>
                <a:cs typeface="Times New Roman" panose="02020603050405020304" pitchFamily="18" charset="0"/>
              </a:rPr>
              <a:t>mertebesinde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ani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sıçramalara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yol</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açmış</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armatur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akımında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kısa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süreli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keskin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dalgalanmalar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meydana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gelmiştir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Önerilen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yapısında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ise</a:t>
            </a:r>
            <a:r>
              <a:rPr lang="en-US" sz="1600" dirty="0">
                <a:solidFill>
                  <a:schemeClr val="bg1"/>
                </a:solidFill>
                <a:latin typeface="Times New Roman" panose="02020603050405020304" pitchFamily="18" charset="0"/>
                <a:cs typeface="Times New Roman" panose="02020603050405020304" pitchFamily="18" charset="0"/>
              </a:rPr>
              <a:t> C4 </a:t>
            </a:r>
            <a:r>
              <a:rPr lang="en-US" sz="1600" dirty="0" err="1">
                <a:solidFill>
                  <a:schemeClr val="bg1"/>
                </a:solidFill>
                <a:latin typeface="Times New Roman" panose="02020603050405020304" pitchFamily="18" charset="0"/>
                <a:cs typeface="Times New Roman" panose="02020603050405020304" pitchFamily="18" charset="0"/>
              </a:rPr>
              <a:t>kapasitörünün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yüksek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frekanslı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bileşenleri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etkin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şekilde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sönümlediği</a:t>
            </a:r>
            <a:r>
              <a:rPr lang="en-US" sz="1600" dirty="0">
                <a:solidFill>
                  <a:schemeClr val="bg1"/>
                </a:solidFill>
                <a:latin typeface="Times New Roman" panose="02020603050405020304" pitchFamily="18" charset="0"/>
                <a:cs typeface="Times New Roman" panose="02020603050405020304" pitchFamily="18" charset="0"/>
              </a:rPr>
              <a:t>, TVS </a:t>
            </a:r>
            <a:r>
              <a:rPr lang="en-US" sz="1600" dirty="0" err="1">
                <a:solidFill>
                  <a:schemeClr val="bg1"/>
                </a:solidFill>
                <a:latin typeface="Times New Roman" panose="02020603050405020304" pitchFamily="18" charset="0"/>
                <a:cs typeface="Times New Roman" panose="02020603050405020304" pitchFamily="18" charset="0"/>
              </a:rPr>
              <a:t>diyotun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ise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tepe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gerilimi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sınırlandırarak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sürücü</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entegresi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MOSFET'lerin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güvenli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çalışma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bölgesini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koruduğu</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görülmüştür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Ayrıca</a:t>
            </a:r>
            <a:r>
              <a:rPr lang="en-US" sz="1600" dirty="0">
                <a:solidFill>
                  <a:schemeClr val="bg1"/>
                </a:solidFill>
                <a:latin typeface="Times New Roman" panose="02020603050405020304" pitchFamily="18" charset="0"/>
                <a:cs typeface="Times New Roman" panose="02020603050405020304" pitchFamily="18" charset="0"/>
              </a:rPr>
              <a:t>, LT8606'nın </a:t>
            </a:r>
            <a:r>
              <a:rPr lang="en-US" sz="1600" dirty="0" err="1">
                <a:solidFill>
                  <a:schemeClr val="bg1"/>
                </a:solidFill>
                <a:latin typeface="Times New Roman" panose="02020603050405020304" pitchFamily="18" charset="0"/>
                <a:cs typeface="Times New Roman" panose="02020603050405020304" pitchFamily="18" charset="0"/>
              </a:rPr>
              <a:t>çıkışındaki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gerilim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regülasyonunun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hızlı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tepki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verdiği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geçici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olay</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sonrası</a:t>
            </a:r>
            <a:r>
              <a:rPr lang="en-US" sz="1600" dirty="0">
                <a:solidFill>
                  <a:schemeClr val="bg1"/>
                </a:solidFill>
                <a:latin typeface="Times New Roman" panose="02020603050405020304" pitchFamily="18" charset="0"/>
                <a:cs typeface="Times New Roman" panose="02020603050405020304" pitchFamily="18" charset="0"/>
              </a:rPr>
              <a:t> nominal </a:t>
            </a:r>
            <a:r>
              <a:rPr lang="en-US" sz="1600" dirty="0" err="1">
                <a:solidFill>
                  <a:schemeClr val="bg1"/>
                </a:solidFill>
                <a:latin typeface="Times New Roman" panose="02020603050405020304" pitchFamily="18" charset="0"/>
                <a:cs typeface="Times New Roman" panose="02020603050405020304" pitchFamily="18" charset="0"/>
              </a:rPr>
              <a:t>değere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hızlı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dönüş</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sağladığı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gözlemlenmiştir</a:t>
            </a:r>
            <a:r>
              <a:rPr lang="en-US" sz="1600" dirty="0">
                <a:solidFill>
                  <a:schemeClr val="bg1"/>
                </a:solidFill>
                <a:latin typeface="Times New Roman" panose="02020603050405020304" pitchFamily="18" charset="0"/>
                <a:cs typeface="Times New Roman" panose="02020603050405020304" pitchFamily="18" charset="0"/>
              </a:rPr>
              <a:t>. Bu </a:t>
            </a:r>
            <a:r>
              <a:rPr lang="en-US" sz="1600" dirty="0" err="1">
                <a:solidFill>
                  <a:schemeClr val="bg1"/>
                </a:solidFill>
                <a:latin typeface="Times New Roman" panose="02020603050405020304" pitchFamily="18" charset="0"/>
                <a:cs typeface="Times New Roman" panose="02020603050405020304" pitchFamily="18" charset="0"/>
              </a:rPr>
              <a:t>sonuçlar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tasarlanan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giriş</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katı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ile</a:t>
            </a:r>
            <a:r>
              <a:rPr lang="en-US" sz="1600" dirty="0">
                <a:solidFill>
                  <a:schemeClr val="bg1"/>
                </a:solidFill>
                <a:latin typeface="Times New Roman" panose="02020603050405020304" pitchFamily="18" charset="0"/>
                <a:cs typeface="Times New Roman" panose="02020603050405020304" pitchFamily="18" charset="0"/>
              </a:rPr>
              <a:t> LT8606–LT1160 </a:t>
            </a:r>
            <a:r>
              <a:rPr lang="en-US" sz="1600" dirty="0" err="1">
                <a:solidFill>
                  <a:schemeClr val="bg1"/>
                </a:solidFill>
                <a:latin typeface="Times New Roman" panose="02020603050405020304" pitchFamily="18" charset="0"/>
                <a:cs typeface="Times New Roman" panose="02020603050405020304" pitchFamily="18" charset="0"/>
              </a:rPr>
              <a:t>temelli</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sürücü</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mimarisinin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gerçek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araç</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koşullarında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karşılaşılabilecek</a:t>
            </a:r>
            <a:r>
              <a:rPr lang="en-US" sz="1600" dirty="0">
                <a:solidFill>
                  <a:schemeClr val="bg1"/>
                </a:solidFill>
                <a:latin typeface="Times New Roman" panose="02020603050405020304" pitchFamily="18" charset="0"/>
                <a:cs typeface="Times New Roman" panose="02020603050405020304" pitchFamily="18" charset="0"/>
              </a:rPr>
              <a:t> transient </a:t>
            </a:r>
            <a:r>
              <a:rPr lang="en-US" sz="1600" dirty="0" err="1">
                <a:solidFill>
                  <a:schemeClr val="bg1"/>
                </a:solidFill>
                <a:latin typeface="Times New Roman" panose="02020603050405020304" pitchFamily="18" charset="0"/>
                <a:cs typeface="Times New Roman" panose="02020603050405020304" pitchFamily="18" charset="0"/>
              </a:rPr>
              <a:t>gerilim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olaylarına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karşı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yüksek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dayanım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sağladığını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göstermektedir</a:t>
            </a:r>
            <a:r>
              <a:rPr lang="en-US" sz="1600" dirty="0">
                <a:solidFill>
                  <a:schemeClr val="bg1"/>
                </a:solidFill>
                <a:latin typeface="Times New Roman" panose="02020603050405020304" pitchFamily="18" charset="0"/>
                <a:cs typeface="Times New Roman" panose="02020603050405020304" pitchFamily="18" charset="0"/>
              </a:rPr>
              <a:t>.</a:t>
            </a:r>
          </a:p>
        </p:txBody>
      </p:sp>
      <p:sp>
        <p:nvSpPr>
          <p:cNvPr id="7" name="Dikdörtgen 6"/>
          <p:cNvSpPr/>
          <p:nvPr/>
        </p:nvSpPr>
        <p:spPr>
          <a:xfrm>
            <a:off x="910098" y="4856448"/>
            <a:ext cx="7323804" cy="584775"/>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8. ISO 7637-2 Pulse 3a (–150 V, 0.1 µs) </a:t>
            </a:r>
            <a:r>
              <a:rPr lang="en-US" sz="1600" dirty="0" err="1">
                <a:solidFill>
                  <a:schemeClr val="bg1"/>
                </a:solidFill>
                <a:latin typeface="Times New Roman" panose="02020603050405020304" pitchFamily="18" charset="0"/>
                <a:cs typeface="Times New Roman" panose="02020603050405020304" pitchFamily="18" charset="0"/>
              </a:rPr>
              <a:t>Darbesinin</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Modeline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Uygulaması</a:t>
            </a:r>
            <a:r>
              <a:rPr lang="en-US" sz="1600" dirty="0">
                <a:solidFill>
                  <a:schemeClr val="bg1"/>
                </a:solidFill>
                <a:latin typeface="Times New Roman" panose="02020603050405020304" pitchFamily="18" charset="0"/>
                <a:cs typeface="Times New Roman" panose="02020603050405020304" pitchFamily="18" charset="0"/>
              </a:rPr>
              <a:t> </a:t>
            </a:r>
          </a:p>
        </p:txBody>
      </p:sp>
      <p:pic>
        <p:nvPicPr>
          <p:cNvPr id="9" name="Resim 8"/>
          <p:cNvPicPr/>
          <p:nvPr/>
        </p:nvPicPr>
        <p:blipFill>
          <a:blip r:embed="rId3"/>
          <a:stretch>
            <a:fillRect/>
          </a:stretch>
        </p:blipFill>
        <p:spPr>
          <a:xfrm>
            <a:off x="1472925" y="3732498"/>
            <a:ext cx="5731510" cy="1123950"/>
          </a:xfrm>
          <a:prstGeom prst="rect">
            <a:avLst/>
          </a:prstGeom>
        </p:spPr>
      </p:pic>
      <p:pic>
        <p:nvPicPr>
          <p:cNvPr id="10" name="Resim 9"/>
          <p:cNvPicPr/>
          <p:nvPr/>
        </p:nvPicPr>
        <p:blipFill>
          <a:blip r:embed="rId4"/>
          <a:stretch>
            <a:fillRect/>
          </a:stretch>
        </p:blipFill>
        <p:spPr>
          <a:xfrm>
            <a:off x="1472925" y="5302962"/>
            <a:ext cx="5731510" cy="1120775"/>
          </a:xfrm>
          <a:prstGeom prst="rect">
            <a:avLst/>
          </a:prstGeom>
        </p:spPr>
      </p:pic>
      <p:sp>
        <p:nvSpPr>
          <p:cNvPr id="3" name="Dikdörtgen 2"/>
          <p:cNvSpPr/>
          <p:nvPr/>
        </p:nvSpPr>
        <p:spPr>
          <a:xfrm>
            <a:off x="910098" y="6425004"/>
            <a:ext cx="7323804" cy="584775"/>
          </a:xfrm>
          <a:prstGeom prst="rect">
            <a:avLst/>
          </a:prstGeom>
        </p:spPr>
        <p:txBody>
          <a:bodyPr vert="horz" lIns="91440" tIns="45720" rIns="91440" bIns="45720" rtlCol="0">
            <a:noAutofit/>
          </a:bodyPr>
          <a:lstStyle/>
          <a:p>
            <a:pPr algn="just">
              <a:spcBef>
                <a:spcPct val="20000"/>
              </a:spcBef>
              <a:buFont typeface="Arial"/>
              <a:buNone/>
            </a:pPr>
            <a:r>
              <a:rPr lang="en-US" sz="1600" dirty="0" err="1">
                <a:solidFill>
                  <a:schemeClr val="bg1"/>
                </a:solidFill>
                <a:latin typeface="Times New Roman" panose="02020603050405020304" pitchFamily="18" charset="0"/>
                <a:cs typeface="Times New Roman" panose="02020603050405020304" pitchFamily="18" charset="0"/>
              </a:rPr>
              <a:t>Şekil</a:t>
            </a:r>
            <a:r>
              <a:rPr lang="en-US" sz="1600" dirty="0">
                <a:solidFill>
                  <a:schemeClr val="bg1"/>
                </a:solidFill>
                <a:latin typeface="Times New Roman" panose="02020603050405020304" pitchFamily="18" charset="0"/>
                <a:cs typeface="Times New Roman" panose="02020603050405020304" pitchFamily="18" charset="0"/>
              </a:rPr>
              <a:t> 9. ISO 7637-2 Pulse 3b (+150 V, 0.1 µs) </a:t>
            </a:r>
            <a:r>
              <a:rPr lang="en-US" sz="1600" dirty="0" err="1">
                <a:solidFill>
                  <a:schemeClr val="bg1"/>
                </a:solidFill>
                <a:latin typeface="Times New Roman" panose="02020603050405020304" pitchFamily="18" charset="0"/>
                <a:cs typeface="Times New Roman" panose="02020603050405020304" pitchFamily="18" charset="0"/>
              </a:rPr>
              <a:t>Darbesinin</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Modeline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Uygulaması</a:t>
            </a:r>
            <a:endParaRPr lang="en-US" sz="1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76238"/>
            <a:ext cx="8229600" cy="1143000"/>
          </a:xfrm>
        </p:spPr>
        <p:txBody>
          <a:bodyPr>
            <a:normAutofit/>
          </a:bodyPr>
          <a:lstStyle/>
          <a:p>
            <a:pPr>
              <a:defRPr sz="3200">
                <a:solidFill>
                  <a:srgbClr val="FFFFFF"/>
                </a:solidFill>
              </a:defRPr>
            </a:pPr>
            <a:r>
              <a:rPr lang="tr-TR" sz="2400" b="1" dirty="0" smtClean="0">
                <a:latin typeface="Times New Roman" panose="02020603050405020304" pitchFamily="18" charset="0"/>
                <a:cs typeface="Times New Roman" panose="02020603050405020304" pitchFamily="18" charset="0"/>
              </a:rPr>
              <a:t>SONUÇLA</a:t>
            </a:r>
            <a:r>
              <a:rPr lang="tr-TR" sz="2400" dirty="0" smtClean="0">
                <a:latin typeface="Times New Roman" panose="02020603050405020304" pitchFamily="18" charset="0"/>
                <a:cs typeface="Times New Roman" panose="02020603050405020304" pitchFamily="18" charset="0"/>
              </a:rPr>
              <a:t>R</a:t>
            </a:r>
            <a:endParaRPr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346200"/>
            <a:ext cx="8229600" cy="4525963"/>
          </a:xfrm>
        </p:spPr>
        <p:txBody>
          <a:bodyPr>
            <a:noAutofit/>
          </a:bodyPr>
          <a:lstStyle/>
          <a:p>
            <a:pPr marL="0" indent="0" algn="just">
              <a:buNone/>
            </a:pPr>
            <a:r>
              <a:rPr lang="en-US" sz="1600" dirty="0">
                <a:solidFill>
                  <a:schemeClr val="bg1"/>
                </a:solidFill>
                <a:latin typeface="Times New Roman" panose="02020603050405020304" pitchFamily="18" charset="0"/>
                <a:cs typeface="Times New Roman" panose="02020603050405020304" pitchFamily="18" charset="0"/>
              </a:rPr>
              <a:t>Bu </a:t>
            </a:r>
            <a:r>
              <a:rPr lang="en-US" sz="1600" dirty="0" err="1">
                <a:solidFill>
                  <a:schemeClr val="bg1"/>
                </a:solidFill>
                <a:latin typeface="Times New Roman" panose="02020603050405020304" pitchFamily="18" charset="0"/>
                <a:cs typeface="Times New Roman" panose="02020603050405020304" pitchFamily="18" charset="0"/>
              </a:rPr>
              <a:t>çalışmada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fırçalı</a:t>
            </a:r>
            <a:r>
              <a:rPr lang="en-US" sz="1600" dirty="0">
                <a:solidFill>
                  <a:schemeClr val="bg1"/>
                </a:solidFill>
                <a:latin typeface="Times New Roman" panose="02020603050405020304" pitchFamily="18" charset="0"/>
                <a:cs typeface="Times New Roman" panose="02020603050405020304" pitchFamily="18" charset="0"/>
              </a:rPr>
              <a:t> DC motor ISO 7637-2 </a:t>
            </a:r>
            <a:r>
              <a:rPr lang="en-US" sz="1600" dirty="0" err="1">
                <a:solidFill>
                  <a:schemeClr val="bg1"/>
                </a:solidFill>
                <a:latin typeface="Times New Roman" panose="02020603050405020304" pitchFamily="18" charset="0"/>
                <a:cs typeface="Times New Roman" panose="02020603050405020304" pitchFamily="18" charset="0"/>
              </a:rPr>
              <a:t>standardı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kapsamında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tanımlanan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geçici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gerilim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darbelerine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karşı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dayanımı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LTspice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tabanlı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sayısal</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analizlerle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incelenmiştir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Simülasyonlarda</a:t>
            </a:r>
            <a:r>
              <a:rPr lang="en-US" sz="1600" dirty="0">
                <a:solidFill>
                  <a:schemeClr val="bg1"/>
                </a:solidFill>
                <a:latin typeface="Times New Roman" panose="02020603050405020304" pitchFamily="18" charset="0"/>
                <a:cs typeface="Times New Roman" panose="02020603050405020304" pitchFamily="18" charset="0"/>
              </a:rPr>
              <a:t>, TVS </a:t>
            </a:r>
            <a:r>
              <a:rPr lang="en-US" sz="1600" dirty="0" err="1">
                <a:solidFill>
                  <a:schemeClr val="bg1"/>
                </a:solidFill>
                <a:latin typeface="Times New Roman" panose="02020603050405020304" pitchFamily="18" charset="0"/>
                <a:cs typeface="Times New Roman" panose="02020603050405020304" pitchFamily="18" charset="0"/>
              </a:rPr>
              <a:t>diyot</a:t>
            </a:r>
            <a:r>
              <a:rPr lang="en-US" sz="1600" dirty="0">
                <a:solidFill>
                  <a:schemeClr val="bg1"/>
                </a:solidFill>
                <a:latin typeface="Times New Roman" panose="02020603050405020304" pitchFamily="18" charset="0"/>
                <a:cs typeface="Times New Roman" panose="02020603050405020304" pitchFamily="18" charset="0"/>
              </a:rPr>
              <a:t>, RC </a:t>
            </a:r>
            <a:r>
              <a:rPr lang="en-US" sz="1600" dirty="0" err="1">
                <a:solidFill>
                  <a:schemeClr val="bg1"/>
                </a:solidFill>
                <a:latin typeface="Times New Roman" panose="02020603050405020304" pitchFamily="18" charset="0"/>
                <a:cs typeface="Times New Roman" panose="02020603050405020304" pitchFamily="18" charset="0"/>
              </a:rPr>
              <a:t>filtreleme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kapasitif</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dengeleme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elemanlarından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oluşan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katmanının</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üzerindeki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etkisi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ayrıntılı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olarak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değerlendirilmiştir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Sonuçlar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sadece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tek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elemanının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kullanıldığı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durumlara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göre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girişte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yer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alan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yapıların</a:t>
            </a:r>
            <a:r>
              <a:rPr lang="en-US" sz="1600" dirty="0">
                <a:solidFill>
                  <a:schemeClr val="bg1"/>
                </a:solidFill>
                <a:latin typeface="Times New Roman" panose="02020603050405020304" pitchFamily="18" charset="0"/>
                <a:cs typeface="Times New Roman" panose="02020603050405020304" pitchFamily="18" charset="0"/>
              </a:rPr>
              <a:t> motor </a:t>
            </a:r>
            <a:r>
              <a:rPr lang="en-US" sz="1600" dirty="0" err="1">
                <a:solidFill>
                  <a:schemeClr val="bg1"/>
                </a:solidFill>
                <a:latin typeface="Times New Roman" panose="02020603050405020304" pitchFamily="18" charset="0"/>
                <a:cs typeface="Times New Roman" panose="02020603050405020304" pitchFamily="18" charset="0"/>
              </a:rPr>
              <a:t>akımlarındaki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harmonik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bozulmaları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önemli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ölçüde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azalttığını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çalışma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bölgesini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koruduğunu</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genel</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sistem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kararlılığını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arttırdığını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ortaya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koymuştur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LTspice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ortamındaki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doğrulamalar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prototip</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geliştirme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süreçleri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öncesi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mühendislik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kararları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için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temel</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smtClean="0">
                <a:solidFill>
                  <a:schemeClr val="bg1"/>
                </a:solidFill>
                <a:latin typeface="Times New Roman" panose="02020603050405020304" pitchFamily="18" charset="0"/>
                <a:cs typeface="Times New Roman" panose="02020603050405020304" pitchFamily="18" charset="0"/>
              </a:rPr>
              <a:t>oluşturmaktadır</a:t>
            </a:r>
            <a:endParaRPr lang="en-US" sz="1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D54AB95-2B42-ACB7-71E2-7C49A1150B4B}"/>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xmlns="" id="{DC90FF0B-3A20-244D-03D9-9532218A5D88}"/>
              </a:ext>
            </a:extLst>
          </p:cNvPr>
          <p:cNvSpPr txBox="1"/>
          <p:nvPr/>
        </p:nvSpPr>
        <p:spPr>
          <a:xfrm>
            <a:off x="2535586" y="3194672"/>
            <a:ext cx="4756826" cy="923330"/>
          </a:xfrm>
          <a:prstGeom prst="rect">
            <a:avLst/>
          </a:prstGeom>
          <a:noFill/>
        </p:spPr>
        <p:txBody>
          <a:bodyPr wrap="square">
            <a:spAutoFit/>
          </a:bodyPr>
          <a:lstStyle/>
          <a:p>
            <a:r>
              <a:rPr lang="tr-TR" sz="5400" dirty="0" smtClean="0">
                <a:solidFill>
                  <a:schemeClr val="tx1">
                    <a:lumMod val="65000"/>
                    <a:lumOff val="35000"/>
                  </a:schemeClr>
                </a:solidFill>
                <a:latin typeface="Times New Roman" panose="02020603050405020304" pitchFamily="18" charset="0"/>
                <a:cs typeface="Times New Roman" panose="02020603050405020304" pitchFamily="18" charset="0"/>
              </a:rPr>
              <a:t>Teşekkürler…</a:t>
            </a:r>
            <a:endParaRPr lang="tr-TR" sz="54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cxnSp>
        <p:nvCxnSpPr>
          <p:cNvPr id="3" name="AutoShape 132">
            <a:extLst>
              <a:ext uri="{FF2B5EF4-FFF2-40B4-BE49-F238E27FC236}">
                <a16:creationId xmlns:a16="http://schemas.microsoft.com/office/drawing/2014/main" xmlns="" id="{2B9FCC5B-D316-18C2-AB1E-E3E6ADC18592}"/>
              </a:ext>
            </a:extLst>
          </p:cNvPr>
          <p:cNvCxnSpPr>
            <a:cxnSpLocks noChangeShapeType="1"/>
          </p:cNvCxnSpPr>
          <p:nvPr/>
        </p:nvCxnSpPr>
        <p:spPr bwMode="auto">
          <a:xfrm>
            <a:off x="138620" y="1845280"/>
            <a:ext cx="8849738" cy="0"/>
          </a:xfrm>
          <a:prstGeom prst="straightConnector1">
            <a:avLst/>
          </a:prstGeom>
          <a:noFill/>
          <a:ln w="38100">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28398" dir="3806097" algn="ctr" rotWithShape="0">
                    <a:srgbClr val="7F7F7F">
                      <a:alpha val="50000"/>
                    </a:srgbClr>
                  </a:outerShdw>
                </a:effectLst>
              </a14:hiddenEffects>
            </a:ext>
          </a:extLst>
        </p:spPr>
      </p:cxnSp>
      <p:pic>
        <p:nvPicPr>
          <p:cNvPr id="8" name="Resim 7"/>
          <p:cNvPicPr>
            <a:picLocks noChangeAspect="1"/>
          </p:cNvPicPr>
          <p:nvPr/>
        </p:nvPicPr>
        <p:blipFill>
          <a:blip r:embed="rId2"/>
          <a:stretch>
            <a:fillRect/>
          </a:stretch>
        </p:blipFill>
        <p:spPr>
          <a:xfrm>
            <a:off x="315447" y="443350"/>
            <a:ext cx="979953" cy="1276329"/>
          </a:xfrm>
          <a:prstGeom prst="rect">
            <a:avLst/>
          </a:prstGeom>
        </p:spPr>
      </p:pic>
      <p:pic>
        <p:nvPicPr>
          <p:cNvPr id="9" name="Resim 8"/>
          <p:cNvPicPr>
            <a:picLocks noChangeAspect="1"/>
          </p:cNvPicPr>
          <p:nvPr/>
        </p:nvPicPr>
        <p:blipFill>
          <a:blip r:embed="rId3"/>
          <a:stretch>
            <a:fillRect/>
          </a:stretch>
        </p:blipFill>
        <p:spPr>
          <a:xfrm>
            <a:off x="8085668" y="535267"/>
            <a:ext cx="818724" cy="1159858"/>
          </a:xfrm>
          <a:prstGeom prst="rect">
            <a:avLst/>
          </a:prstGeom>
        </p:spPr>
      </p:pic>
      <p:sp>
        <p:nvSpPr>
          <p:cNvPr id="10" name="Dikdörtgen 9"/>
          <p:cNvSpPr/>
          <p:nvPr/>
        </p:nvSpPr>
        <p:spPr>
          <a:xfrm>
            <a:off x="2366253" y="711405"/>
            <a:ext cx="4572000" cy="923330"/>
          </a:xfrm>
          <a:prstGeom prst="rect">
            <a:avLst/>
          </a:prstGeom>
        </p:spPr>
        <p:txBody>
          <a:bodyPr>
            <a:spAutoFit/>
          </a:bodyPr>
          <a:lstStyle/>
          <a:p>
            <a:pPr algn="ctr"/>
            <a:r>
              <a:rPr lang="tr-TR" b="1" dirty="0">
                <a:latin typeface="Times New Roman" panose="02020603050405020304" pitchFamily="18" charset="0"/>
                <a:cs typeface="Times New Roman" panose="02020603050405020304" pitchFamily="18" charset="0"/>
              </a:rPr>
              <a:t>6. BİLSEL INTERNATIONAL ASPENDOS</a:t>
            </a:r>
            <a:br>
              <a:rPr lang="tr-TR" b="1" dirty="0">
                <a:latin typeface="Times New Roman" panose="02020603050405020304" pitchFamily="18" charset="0"/>
                <a:cs typeface="Times New Roman" panose="02020603050405020304" pitchFamily="18" charset="0"/>
              </a:rPr>
            </a:br>
            <a:r>
              <a:rPr lang="tr-TR" b="1" dirty="0">
                <a:latin typeface="Times New Roman" panose="02020603050405020304" pitchFamily="18" charset="0"/>
                <a:cs typeface="Times New Roman" panose="02020603050405020304" pitchFamily="18" charset="0"/>
              </a:rPr>
              <a:t>SCIENTIFIC RESEARCHES</a:t>
            </a:r>
            <a:br>
              <a:rPr lang="tr-TR" b="1" dirty="0">
                <a:latin typeface="Times New Roman" panose="02020603050405020304" pitchFamily="18" charset="0"/>
                <a:cs typeface="Times New Roman" panose="02020603050405020304" pitchFamily="18" charset="0"/>
              </a:rPr>
            </a:br>
            <a:r>
              <a:rPr lang="tr-TR" b="1" dirty="0">
                <a:latin typeface="Times New Roman" panose="02020603050405020304" pitchFamily="18" charset="0"/>
                <a:cs typeface="Times New Roman" panose="02020603050405020304" pitchFamily="18" charset="0"/>
              </a:rPr>
              <a:t>CONGRESS</a:t>
            </a:r>
            <a:endParaRPr lang="en-US" b="1" dirty="0"/>
          </a:p>
        </p:txBody>
      </p:sp>
    </p:spTree>
    <p:extLst>
      <p:ext uri="{BB962C8B-B14F-4D97-AF65-F5344CB8AC3E}">
        <p14:creationId xmlns:p14="http://schemas.microsoft.com/office/powerpoint/2010/main" val="8115955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1112</Words>
  <Application>Microsoft Office PowerPoint</Application>
  <PresentationFormat>Ekran Gösterisi (4:3)</PresentationFormat>
  <Paragraphs>38</Paragraphs>
  <Slides>11</Slides>
  <Notes>1</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11</vt:i4>
      </vt:variant>
    </vt:vector>
  </HeadingPairs>
  <TitlesOfParts>
    <vt:vector size="15" baseType="lpstr">
      <vt:lpstr>Arial</vt:lpstr>
      <vt:lpstr>Calibri</vt:lpstr>
      <vt:lpstr>Times New Roman</vt:lpstr>
      <vt:lpstr>Office Theme</vt:lpstr>
      <vt:lpstr>TİCARİ ARAÇLARDA 24 V SİSTEMLERDE ISO 7637-2 GEÇİCİ KOŞULLARI ALTINDA OTOMOTİV TİPİ FIRÇALI DC MOTORUN LTSPICE TABANLI ANALİZİ </vt:lpstr>
      <vt:lpstr>GİRİŞ</vt:lpstr>
      <vt:lpstr>PowerPoint Sunusu</vt:lpstr>
      <vt:lpstr>GİRİŞ</vt:lpstr>
      <vt:lpstr>2. Donanım Tasarımı ve Simülasyon Yaklaşımı</vt:lpstr>
      <vt:lpstr>2. Donanım Tasarımı ve Simülasyon Yaklaşımı</vt:lpstr>
      <vt:lpstr>3. Simülasyon Sonuçları ve Genel Değerlendirme</vt:lpstr>
      <vt:lpstr>3. Simülasyon Sonuçları ve Genel Değerlendirme</vt:lpstr>
      <vt:lpstr>3. Simülasyon Sonuçları ve Genel Değerlendirme</vt:lpstr>
      <vt:lpstr>SONUÇLAR</vt:lpstr>
      <vt:lpstr>PowerPoint Sunusu</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TİCARİ ARAÇLARDA 24 V SİSTEMLERDE ISO 7637-2 GEÇİCİ KOŞULLARI ALTINDA OTOMOTİV TİPİ FIRÇALI DC MOTORUN LTSPICE TABANLI ANALİZİ</dc:title>
  <dc:subject/>
  <dc:creator>Lenovo</dc:creator>
  <cp:keywords/>
  <dc:description>generated using python-pptx</dc:description>
  <cp:lastModifiedBy>Lenovo</cp:lastModifiedBy>
  <cp:revision>10</cp:revision>
  <dcterms:created xsi:type="dcterms:W3CDTF">2013-01-27T09:14:16Z</dcterms:created>
  <dcterms:modified xsi:type="dcterms:W3CDTF">2025-11-29T17:10:48Z</dcterms:modified>
  <cp:category/>
</cp:coreProperties>
</file>