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5" r:id="rId2"/>
    <p:sldId id="256" r:id="rId3"/>
    <p:sldId id="257" r:id="rId4"/>
    <p:sldId id="258" r:id="rId5"/>
    <p:sldId id="259" r:id="rId6"/>
    <p:sldId id="260" r:id="rId7"/>
    <p:sldId id="261" r:id="rId8"/>
    <p:sldId id="262" r:id="rId9"/>
    <p:sldId id="263" r:id="rId10"/>
    <p:sldId id="264"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421"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83E06A-9AD9-4356-A5DE-25BAA007FEDF}" type="datetimeFigureOut">
              <a:rPr lang="tr-TR" smtClean="0"/>
              <a:t>30.11.2025</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D05402-FD13-4606-A9F8-6356D60137F3}" type="slidenum">
              <a:rPr lang="tr-TR" smtClean="0"/>
              <a:t>‹#›</a:t>
            </a:fld>
            <a:endParaRPr lang="tr-TR"/>
          </a:p>
        </p:txBody>
      </p:sp>
    </p:spTree>
    <p:extLst>
      <p:ext uri="{BB962C8B-B14F-4D97-AF65-F5344CB8AC3E}">
        <p14:creationId xmlns:p14="http://schemas.microsoft.com/office/powerpoint/2010/main" val="3721403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33D05402-FD13-4606-A9F8-6356D60137F3}" type="slidenum">
              <a:rPr lang="tr-TR" smtClean="0"/>
              <a:t>8</a:t>
            </a:fld>
            <a:endParaRPr lang="tr-TR"/>
          </a:p>
        </p:txBody>
      </p:sp>
    </p:spTree>
    <p:extLst>
      <p:ext uri="{BB962C8B-B14F-4D97-AF65-F5344CB8AC3E}">
        <p14:creationId xmlns:p14="http://schemas.microsoft.com/office/powerpoint/2010/main" val="2579310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 xmlns:a16="http://schemas.microsoft.com/office/drawing/2014/main" id="{22361036-2C2A-A293-77D3-E00996726051}"/>
              </a:ext>
            </a:extLst>
          </p:cNvPr>
          <p:cNvSpPr>
            <a:spLocks noGrp="1"/>
          </p:cNvSpPr>
          <p:nvPr>
            <p:ph type="ctrTitle" idx="4294967295"/>
          </p:nvPr>
        </p:nvSpPr>
        <p:spPr>
          <a:xfrm>
            <a:off x="319862" y="2548089"/>
            <a:ext cx="8420100" cy="1335881"/>
          </a:xfrm>
        </p:spPr>
        <p:txBody>
          <a:bodyPr>
            <a:noAutofit/>
          </a:bodyPr>
          <a:lstStyle/>
          <a:p>
            <a:r>
              <a:rPr lang="tr-TR" sz="2800" b="1" dirty="0" smtClean="0">
                <a:latin typeface="Times New Roman" panose="02020603050405020304" pitchFamily="18" charset="0"/>
                <a:cs typeface="Times New Roman" panose="02020603050405020304" pitchFamily="18" charset="0"/>
              </a:rPr>
              <a:t>ECE </a:t>
            </a:r>
            <a:r>
              <a:rPr lang="tr-TR" sz="2800" b="1" dirty="0">
                <a:latin typeface="Times New Roman" panose="02020603050405020304" pitchFamily="18" charset="0"/>
                <a:cs typeface="Times New Roman" panose="02020603050405020304" pitchFamily="18" charset="0"/>
              </a:rPr>
              <a:t>R10 KAPSAMINDA BLDC MOTOR SÜRÜCÜLERİ İÇİN LTSPICE TABANLI İLETKEN EMİSYON ANALİZİ</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tr-TR" sz="2800" b="1" dirty="0">
              <a:latin typeface="Times New Roman" panose="02020603050405020304" pitchFamily="18" charset="0"/>
              <a:cs typeface="Times New Roman" panose="02020603050405020304" pitchFamily="18" charset="0"/>
            </a:endParaRPr>
          </a:p>
        </p:txBody>
      </p:sp>
      <p:sp>
        <p:nvSpPr>
          <p:cNvPr id="5" name="Metin kutusu 4">
            <a:extLst>
              <a:ext uri="{FF2B5EF4-FFF2-40B4-BE49-F238E27FC236}">
                <a16:creationId xmlns="" xmlns:a16="http://schemas.microsoft.com/office/drawing/2014/main" id="{75E24201-6E6C-C887-0C05-8225FFFE9375}"/>
              </a:ext>
            </a:extLst>
          </p:cNvPr>
          <p:cNvSpPr txBox="1"/>
          <p:nvPr/>
        </p:nvSpPr>
        <p:spPr>
          <a:xfrm>
            <a:off x="2150420" y="4735682"/>
            <a:ext cx="5003666" cy="1415772"/>
          </a:xfrm>
          <a:prstGeom prst="rect">
            <a:avLst/>
          </a:prstGeom>
          <a:noFill/>
        </p:spPr>
        <p:txBody>
          <a:bodyPr wrap="square" rtlCol="0">
            <a:spAutoFit/>
          </a:bodyPr>
          <a:lstStyle/>
          <a:p>
            <a:pPr algn="ctr"/>
            <a:r>
              <a:rPr lang="tr-TR" sz="2000" b="1" dirty="0">
                <a:latin typeface="Times New Roman" panose="02020603050405020304" pitchFamily="18" charset="0"/>
                <a:cs typeface="Times New Roman" panose="02020603050405020304" pitchFamily="18" charset="0"/>
              </a:rPr>
              <a:t>Buğra E</a:t>
            </a:r>
            <a:r>
              <a:rPr lang="en-US" sz="2000" b="1" dirty="0">
                <a:latin typeface="Times New Roman" panose="02020603050405020304" pitchFamily="18" charset="0"/>
                <a:cs typeface="Times New Roman" panose="02020603050405020304" pitchFamily="18" charset="0"/>
              </a:rPr>
              <a:t>R</a:t>
            </a:r>
            <a:r>
              <a:rPr lang="tr-T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Okan BİNGÖL</a:t>
            </a:r>
            <a:endParaRPr lang="tr-TR" sz="2000" b="1" dirty="0">
              <a:latin typeface="Times New Roman" panose="02020603050405020304" pitchFamily="18" charset="0"/>
              <a:cs typeface="Times New Roman" panose="02020603050405020304" pitchFamily="18" charset="0"/>
            </a:endParaRPr>
          </a:p>
          <a:p>
            <a:pPr algn="ctr"/>
            <a:endParaRPr lang="tr-TR" sz="1600" b="1" dirty="0">
              <a:latin typeface="Times New Roman" panose="02020603050405020304" pitchFamily="18" charset="0"/>
              <a:cs typeface="Times New Roman" panose="02020603050405020304" pitchFamily="18" charset="0"/>
            </a:endParaRPr>
          </a:p>
          <a:p>
            <a:pPr algn="ctr"/>
            <a:endParaRPr lang="tr-TR" sz="1600" b="1" dirty="0" smtClean="0">
              <a:latin typeface="Times New Roman" panose="02020603050405020304" pitchFamily="18" charset="0"/>
              <a:cs typeface="Times New Roman" panose="02020603050405020304" pitchFamily="18" charset="0"/>
            </a:endParaRPr>
          </a:p>
          <a:p>
            <a:pPr algn="ctr"/>
            <a:endParaRPr lang="tr-TR" sz="1600" b="1"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Antalya</a:t>
            </a:r>
            <a:r>
              <a:rPr lang="tr-TR" dirty="0" smtClean="0">
                <a:latin typeface="Times New Roman" panose="02020603050405020304" pitchFamily="18" charset="0"/>
                <a:cs typeface="Times New Roman" panose="02020603050405020304" pitchFamily="18" charset="0"/>
              </a:rPr>
              <a:t>, 2025</a:t>
            </a:r>
            <a:endParaRPr lang="tr-TR" b="1" dirty="0">
              <a:latin typeface="Times New Roman" panose="02020603050405020304" pitchFamily="18" charset="0"/>
              <a:cs typeface="Times New Roman" panose="02020603050405020304" pitchFamily="18" charset="0"/>
            </a:endParaRPr>
          </a:p>
        </p:txBody>
      </p:sp>
      <p:cxnSp>
        <p:nvCxnSpPr>
          <p:cNvPr id="6" name="AutoShape 132">
            <a:extLst>
              <a:ext uri="{FF2B5EF4-FFF2-40B4-BE49-F238E27FC236}">
                <a16:creationId xmlns="" xmlns:a16="http://schemas.microsoft.com/office/drawing/2014/main" id="{C360B360-B4E2-0FD4-F789-69918F13D7F8}"/>
              </a:ext>
            </a:extLst>
          </p:cNvPr>
          <p:cNvCxnSpPr>
            <a:cxnSpLocks noChangeShapeType="1"/>
          </p:cNvCxnSpPr>
          <p:nvPr/>
        </p:nvCxnSpPr>
        <p:spPr bwMode="auto">
          <a:xfrm>
            <a:off x="400115" y="1807121"/>
            <a:ext cx="8504277" cy="0"/>
          </a:xfrm>
          <a:prstGeom prst="straightConnector1">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8398" dir="3806097" algn="ctr" rotWithShape="0">
                    <a:srgbClr val="7F7F7F">
                      <a:alpha val="50000"/>
                    </a:srgbClr>
                  </a:outerShdw>
                </a:effectLst>
              </a14:hiddenEffects>
            </a:ext>
          </a:extLst>
        </p:spPr>
      </p:cxnSp>
      <p:pic>
        <p:nvPicPr>
          <p:cNvPr id="4" name="Resim 3"/>
          <p:cNvPicPr>
            <a:picLocks noChangeAspect="1"/>
          </p:cNvPicPr>
          <p:nvPr/>
        </p:nvPicPr>
        <p:blipFill>
          <a:blip r:embed="rId2"/>
          <a:stretch>
            <a:fillRect/>
          </a:stretch>
        </p:blipFill>
        <p:spPr>
          <a:xfrm>
            <a:off x="400111" y="496498"/>
            <a:ext cx="880959" cy="1147396"/>
          </a:xfrm>
          <a:prstGeom prst="rect">
            <a:avLst/>
          </a:prstGeom>
        </p:spPr>
      </p:pic>
      <p:pic>
        <p:nvPicPr>
          <p:cNvPr id="7" name="Resim 6"/>
          <p:cNvPicPr>
            <a:picLocks noChangeAspect="1"/>
          </p:cNvPicPr>
          <p:nvPr/>
        </p:nvPicPr>
        <p:blipFill>
          <a:blip r:embed="rId3"/>
          <a:stretch>
            <a:fillRect/>
          </a:stretch>
        </p:blipFill>
        <p:spPr>
          <a:xfrm>
            <a:off x="8079885" y="540146"/>
            <a:ext cx="748307" cy="1060100"/>
          </a:xfrm>
          <a:prstGeom prst="rect">
            <a:avLst/>
          </a:prstGeom>
        </p:spPr>
      </p:pic>
      <p:sp>
        <p:nvSpPr>
          <p:cNvPr id="8" name="Dikdörtgen 7"/>
          <p:cNvSpPr/>
          <p:nvPr/>
        </p:nvSpPr>
        <p:spPr>
          <a:xfrm>
            <a:off x="2366253" y="608531"/>
            <a:ext cx="4572000" cy="923330"/>
          </a:xfrm>
          <a:prstGeom prst="rect">
            <a:avLst/>
          </a:prstGeom>
        </p:spPr>
        <p:txBody>
          <a:bodyPr>
            <a:spAutoFit/>
          </a:bodyPr>
          <a:lstStyle/>
          <a:p>
            <a:pPr algn="ctr"/>
            <a:r>
              <a:rPr lang="tr-TR" b="1" dirty="0">
                <a:latin typeface="Times New Roman" panose="02020603050405020304" pitchFamily="18" charset="0"/>
                <a:cs typeface="Times New Roman" panose="02020603050405020304" pitchFamily="18" charset="0"/>
              </a:rPr>
              <a:t>6. BİLSEL INTERNATIONAL ASPENDOS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SCIENTIFIC RESEARCHES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CONGRESS</a:t>
            </a:r>
            <a:endParaRPr lang="en-US" b="1" dirty="0"/>
          </a:p>
        </p:txBody>
      </p:sp>
    </p:spTree>
    <p:extLst>
      <p:ext uri="{BB962C8B-B14F-4D97-AF65-F5344CB8AC3E}">
        <p14:creationId xmlns:p14="http://schemas.microsoft.com/office/powerpoint/2010/main" val="793138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8685"/>
            <a:ext cx="9220200" cy="1143000"/>
          </a:xfrm>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BLDC MOTOR SÜRÜCÜLERİ İÇİN CISPR 25 CLASS 3 CE ANALİZİ</a:t>
            </a:r>
            <a:endParaRPr lang="tr-TR" sz="2400" b="1" dirty="0">
              <a:latin typeface="Times New Roman" panose="02020603050405020304" pitchFamily="18" charset="0"/>
              <a:cs typeface="Times New Roman" panose="02020603050405020304" pitchFamily="18" charset="0"/>
            </a:endParaRPr>
          </a:p>
        </p:txBody>
      </p:sp>
      <p:pic>
        <p:nvPicPr>
          <p:cNvPr id="4" name="Resim 3"/>
          <p:cNvPicPr/>
          <p:nvPr/>
        </p:nvPicPr>
        <p:blipFill>
          <a:blip r:embed="rId2"/>
          <a:stretch>
            <a:fillRect/>
          </a:stretch>
        </p:blipFill>
        <p:spPr>
          <a:xfrm>
            <a:off x="2695149" y="3466480"/>
            <a:ext cx="3914563" cy="2841217"/>
          </a:xfrm>
          <a:prstGeom prst="rect">
            <a:avLst/>
          </a:prstGeom>
        </p:spPr>
      </p:pic>
      <p:sp>
        <p:nvSpPr>
          <p:cNvPr id="6" name="Dikdörtgen 5"/>
          <p:cNvSpPr/>
          <p:nvPr/>
        </p:nvSpPr>
        <p:spPr>
          <a:xfrm>
            <a:off x="524933" y="1072001"/>
            <a:ext cx="8263467" cy="2462213"/>
          </a:xfrm>
          <a:prstGeom prst="rect">
            <a:avLst/>
          </a:prstGeom>
        </p:spPr>
        <p:txBody>
          <a:bodyPr wrap="square">
            <a:spAutoFit/>
          </a:bodyPr>
          <a:lstStyle/>
          <a:p>
            <a:pPr algn="just"/>
            <a:r>
              <a:rPr lang="en-US" sz="1400" b="1" dirty="0" err="1">
                <a:solidFill>
                  <a:schemeClr val="bg1"/>
                </a:solidFill>
                <a:latin typeface="Times New Roman" panose="02020603050405020304" pitchFamily="18" charset="0"/>
                <a:cs typeface="Times New Roman" panose="02020603050405020304" pitchFamily="18" charset="0"/>
              </a:rPr>
              <a:t>Otomotiv</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elektrifikasyonunun</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yaygınlaşması</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araç</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içindeki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güç</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elektroniği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modüllerinin</a:t>
            </a:r>
            <a:r>
              <a:rPr lang="en-US" sz="1400" dirty="0">
                <a:solidFill>
                  <a:schemeClr val="bg1"/>
                </a:solidFill>
                <a:latin typeface="Times New Roman" panose="02020603050405020304" pitchFamily="18" charset="0"/>
                <a:cs typeface="Times New Roman" panose="02020603050405020304" pitchFamily="18" charset="0"/>
              </a:rPr>
              <a:t> (DC–DC </a:t>
            </a:r>
            <a:r>
              <a:rPr lang="en-US" sz="1400" dirty="0" err="1">
                <a:solidFill>
                  <a:schemeClr val="bg1"/>
                </a:solidFill>
                <a:latin typeface="Times New Roman" panose="02020603050405020304" pitchFamily="18" charset="0"/>
                <a:cs typeface="Times New Roman" panose="02020603050405020304" pitchFamily="18" charset="0"/>
              </a:rPr>
              <a:t>dönüştürücüler</a:t>
            </a:r>
            <a:r>
              <a:rPr lang="en-US" sz="1400" dirty="0">
                <a:solidFill>
                  <a:schemeClr val="bg1"/>
                </a:solidFill>
                <a:latin typeface="Times New Roman" panose="02020603050405020304" pitchFamily="18" charset="0"/>
                <a:cs typeface="Times New Roman" panose="02020603050405020304" pitchFamily="18" charset="0"/>
              </a:rPr>
              <a:t>, motor </a:t>
            </a:r>
            <a:r>
              <a:rPr lang="en-US" sz="1400" dirty="0" err="1">
                <a:solidFill>
                  <a:schemeClr val="bg1"/>
                </a:solidFill>
                <a:latin typeface="Times New Roman" panose="02020603050405020304" pitchFamily="18" charset="0"/>
                <a:cs typeface="Times New Roman" panose="02020603050405020304" pitchFamily="18" charset="0"/>
              </a:rPr>
              <a:t>sürücüler</a:t>
            </a:r>
            <a:r>
              <a:rPr lang="en-US" sz="1400" dirty="0">
                <a:solidFill>
                  <a:schemeClr val="bg1"/>
                </a:solidFill>
                <a:latin typeface="Times New Roman" panose="02020603050405020304" pitchFamily="18" charset="0"/>
                <a:cs typeface="Times New Roman" panose="02020603050405020304" pitchFamily="18" charset="0"/>
              </a:rPr>
              <a:t>, BMS, </a:t>
            </a:r>
            <a:r>
              <a:rPr lang="en-US" sz="1400" dirty="0" err="1">
                <a:solidFill>
                  <a:schemeClr val="bg1"/>
                </a:solidFill>
                <a:latin typeface="Times New Roman" panose="02020603050405020304" pitchFamily="18" charset="0"/>
                <a:cs typeface="Times New Roman" panose="02020603050405020304" pitchFamily="18" charset="0"/>
              </a:rPr>
              <a:t>yardımcı</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güç</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üniteleri</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yüksek</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frekanslı</a:t>
            </a:r>
            <a:r>
              <a:rPr lang="en-US" sz="1400" b="1" dirty="0">
                <a:solidFill>
                  <a:schemeClr val="bg1"/>
                </a:solidFill>
                <a:latin typeface="Times New Roman" panose="02020603050405020304" pitchFamily="18" charset="0"/>
                <a:cs typeface="Times New Roman" panose="02020603050405020304" pitchFamily="18" charset="0"/>
              </a:rPr>
              <a:t> PWM </a:t>
            </a:r>
            <a:r>
              <a:rPr lang="en-US" sz="1400" b="1" dirty="0" err="1">
                <a:solidFill>
                  <a:schemeClr val="bg1"/>
                </a:solidFill>
                <a:latin typeface="Times New Roman" panose="02020603050405020304" pitchFamily="18" charset="0"/>
                <a:cs typeface="Times New Roman" panose="02020603050405020304" pitchFamily="18" charset="0"/>
              </a:rPr>
              <a:t>anahtarlama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kullanmasını</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zorunlu</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kılmıştır</a:t>
            </a:r>
            <a:r>
              <a:rPr lang="en-US" sz="1400" dirty="0">
                <a:solidFill>
                  <a:schemeClr val="bg1"/>
                </a:solidFill>
                <a:latin typeface="Times New Roman" panose="02020603050405020304" pitchFamily="18" charset="0"/>
                <a:cs typeface="Times New Roman" panose="02020603050405020304" pitchFamily="18" charset="0"/>
              </a:rPr>
              <a:t>. Bu </a:t>
            </a:r>
            <a:r>
              <a:rPr lang="en-US" sz="1400" dirty="0" err="1">
                <a:solidFill>
                  <a:schemeClr val="bg1"/>
                </a:solidFill>
                <a:latin typeface="Times New Roman" panose="02020603050405020304" pitchFamily="18" charset="0"/>
                <a:cs typeface="Times New Roman" panose="02020603050405020304" pitchFamily="18" charset="0"/>
              </a:rPr>
              <a:t>anahtarlama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yüksek</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dv/</a:t>
            </a:r>
            <a:r>
              <a:rPr lang="en-US" sz="1400" b="1" dirty="0" err="1">
                <a:solidFill>
                  <a:schemeClr val="bg1"/>
                </a:solidFill>
                <a:latin typeface="Times New Roman" panose="02020603050405020304" pitchFamily="18" charset="0"/>
                <a:cs typeface="Times New Roman" panose="02020603050405020304" pitchFamily="18" charset="0"/>
              </a:rPr>
              <a:t>dt</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ve</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di/</a:t>
            </a:r>
            <a:r>
              <a:rPr lang="en-US" sz="1400" b="1" dirty="0" err="1">
                <a:solidFill>
                  <a:schemeClr val="bg1"/>
                </a:solidFill>
                <a:latin typeface="Times New Roman" panose="02020603050405020304" pitchFamily="18" charset="0"/>
                <a:cs typeface="Times New Roman" panose="02020603050405020304" pitchFamily="18" charset="0"/>
              </a:rPr>
              <a:t>dt</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geçişleri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nedeniyle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iletilen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elektromanyetik</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gürültüyü</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artırmakta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ve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araç</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içi</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EMI/EMC </a:t>
            </a:r>
            <a:r>
              <a:rPr lang="en-US" sz="1400" b="1" dirty="0" err="1">
                <a:solidFill>
                  <a:schemeClr val="bg1"/>
                </a:solidFill>
                <a:latin typeface="Times New Roman" panose="02020603050405020304" pitchFamily="18" charset="0"/>
                <a:cs typeface="Times New Roman" panose="02020603050405020304" pitchFamily="18" charset="0"/>
              </a:rPr>
              <a:t>gereksinimlerini</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kritik</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bir</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tasarım</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unsuru</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hâline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getirmektedir</a:t>
            </a:r>
            <a:r>
              <a:rPr lang="en-US" sz="1400" dirty="0">
                <a:solidFill>
                  <a:schemeClr val="bg1"/>
                </a:solidFill>
                <a:latin typeface="Times New Roman" panose="02020603050405020304" pitchFamily="18" charset="0"/>
                <a:cs typeface="Times New Roman" panose="02020603050405020304" pitchFamily="18" charset="0"/>
              </a:rPr>
              <a:t>.</a:t>
            </a:r>
          </a:p>
          <a:p>
            <a:pPr algn="just"/>
            <a:r>
              <a:rPr lang="en-US" sz="1400" dirty="0" err="1">
                <a:solidFill>
                  <a:schemeClr val="bg1"/>
                </a:solidFill>
                <a:latin typeface="Times New Roman" panose="02020603050405020304" pitchFamily="18" charset="0"/>
                <a:cs typeface="Times New Roman" panose="02020603050405020304" pitchFamily="18" charset="0"/>
              </a:rPr>
              <a:t>Radyo</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alıcıları</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telematik</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kontrol</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üniteleri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navigasyon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sistemleri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ve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haberleşme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altyapıları</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EMI’ye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oldukça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duyarlıdır</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bu</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nedenle</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güç</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elektroniği</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kaynaklı</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iletilen</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gürültünün</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kontrolü</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otomotiv</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sistemlerinde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zorunludur</a:t>
            </a:r>
            <a:r>
              <a:rPr lang="en-US" sz="1400" dirty="0">
                <a:solidFill>
                  <a:schemeClr val="bg1"/>
                </a:solidFill>
                <a:latin typeface="Times New Roman" panose="02020603050405020304" pitchFamily="18" charset="0"/>
                <a:cs typeface="Times New Roman" panose="02020603050405020304" pitchFamily="18" charset="0"/>
              </a:rPr>
              <a:t>.</a:t>
            </a:r>
          </a:p>
          <a:p>
            <a:pPr algn="just"/>
            <a:r>
              <a:rPr lang="en-US" sz="1400" dirty="0">
                <a:solidFill>
                  <a:schemeClr val="bg1"/>
                </a:solidFill>
                <a:latin typeface="Times New Roman" panose="02020603050405020304" pitchFamily="18" charset="0"/>
                <a:cs typeface="Times New Roman" panose="02020603050405020304" pitchFamily="18" charset="0"/>
              </a:rPr>
              <a:t>Bu </a:t>
            </a:r>
            <a:r>
              <a:rPr lang="en-US" sz="1400" dirty="0" err="1">
                <a:solidFill>
                  <a:schemeClr val="bg1"/>
                </a:solidFill>
                <a:latin typeface="Times New Roman" panose="02020603050405020304" pitchFamily="18" charset="0"/>
                <a:cs typeface="Times New Roman" panose="02020603050405020304" pitchFamily="18" charset="0"/>
              </a:rPr>
              <a:t>bağlamda</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CISPR 25</a:t>
            </a:r>
            <a:r>
              <a:rPr lang="en-US" sz="1400" dirty="0">
                <a:solidFill>
                  <a:schemeClr val="bg1"/>
                </a:solidFill>
                <a:latin typeface="Times New Roman" panose="02020603050405020304" pitchFamily="18" charset="0"/>
                <a:cs typeface="Times New Roman" panose="02020603050405020304" pitchFamily="18" charset="0"/>
              </a:rPr>
              <a:t>, 150 kHz–108 MHz </a:t>
            </a:r>
            <a:r>
              <a:rPr lang="en-US" sz="1400" dirty="0" err="1">
                <a:solidFill>
                  <a:schemeClr val="bg1"/>
                </a:solidFill>
                <a:latin typeface="Times New Roman" panose="02020603050405020304" pitchFamily="18" charset="0"/>
                <a:cs typeface="Times New Roman" panose="02020603050405020304" pitchFamily="18" charset="0"/>
              </a:rPr>
              <a:t>aralığında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araç</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içi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modüllerin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iletilen</a:t>
            </a:r>
            <a:r>
              <a:rPr lang="en-US" sz="1400" dirty="0">
                <a:solidFill>
                  <a:schemeClr val="bg1"/>
                </a:solidFill>
                <a:latin typeface="Times New Roman" panose="02020603050405020304" pitchFamily="18" charset="0"/>
                <a:cs typeface="Times New Roman" panose="02020603050405020304" pitchFamily="18" charset="0"/>
              </a:rPr>
              <a:t>/</a:t>
            </a:r>
            <a:r>
              <a:rPr lang="en-US" sz="1400" dirty="0" err="1">
                <a:solidFill>
                  <a:schemeClr val="bg1"/>
                </a:solidFill>
                <a:latin typeface="Times New Roman" panose="02020603050405020304" pitchFamily="18" charset="0"/>
                <a:cs typeface="Times New Roman" panose="02020603050405020304" pitchFamily="18" charset="0"/>
              </a:rPr>
              <a:t>yayılan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emisyon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limitlerini</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tanımlayan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uluslararası</a:t>
            </a:r>
            <a:r>
              <a:rPr lang="en-US" sz="1400" dirty="0">
                <a:solidFill>
                  <a:schemeClr val="bg1"/>
                </a:solidFill>
                <a:latin typeface="Times New Roman" panose="02020603050405020304" pitchFamily="18" charset="0"/>
                <a:cs typeface="Times New Roman" panose="02020603050405020304" pitchFamily="18" charset="0"/>
              </a:rPr>
              <a:t> EMC </a:t>
            </a:r>
            <a:r>
              <a:rPr lang="en-US" sz="1400" dirty="0" err="1">
                <a:solidFill>
                  <a:schemeClr val="bg1"/>
                </a:solidFill>
                <a:latin typeface="Times New Roman" panose="02020603050405020304" pitchFamily="18" charset="0"/>
                <a:cs typeface="Times New Roman" panose="02020603050405020304" pitchFamily="18" charset="0"/>
              </a:rPr>
              <a:t>standardıdır</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ve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OEM'lerin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ürün</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geliştirme</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süreçlerinde</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temel</a:t>
            </a:r>
            <a:r>
              <a:rPr lang="en-US" sz="1400" b="1" dirty="0">
                <a:solidFill>
                  <a:schemeClr val="bg1"/>
                </a:solidFill>
                <a:latin typeface="Times New Roman" panose="02020603050405020304" pitchFamily="18" charset="0"/>
                <a:cs typeface="Times New Roman" panose="02020603050405020304" pitchFamily="18" charset="0"/>
              </a:rPr>
              <a:t> </a:t>
            </a:r>
            <a:r>
              <a:rPr lang="en-US" sz="1400" b="1" dirty="0" err="1">
                <a:solidFill>
                  <a:schemeClr val="bg1"/>
                </a:solidFill>
                <a:latin typeface="Times New Roman" panose="02020603050405020304" pitchFamily="18" charset="0"/>
                <a:cs typeface="Times New Roman" panose="02020603050405020304" pitchFamily="18" charset="0"/>
              </a:rPr>
              <a:t>referans</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olarak</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kullanılmaktadır</a:t>
            </a:r>
            <a:r>
              <a:rPr lang="en-US" sz="14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1600198" y="6375431"/>
            <a:ext cx="6104467"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1.</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BLDC Motor Sürücü Devresinin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LTspice</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Modeli</a:t>
            </a:r>
            <a:endParaRPr lang="en-US"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53029"/>
          </a:xfrm>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GİRİŞ</a:t>
            </a:r>
            <a:endParaRPr lang="tr-TR" sz="2400" b="1" dirty="0">
              <a:latin typeface="Times New Roman" panose="02020603050405020304" pitchFamily="18" charset="0"/>
              <a:cs typeface="Times New Roman" panose="02020603050405020304" pitchFamily="18" charset="0"/>
            </a:endParaRPr>
          </a:p>
        </p:txBody>
      </p:sp>
      <p:pic>
        <p:nvPicPr>
          <p:cNvPr id="4" name="Resim 3"/>
          <p:cNvPicPr/>
          <p:nvPr/>
        </p:nvPicPr>
        <p:blipFill>
          <a:blip r:embed="rId2"/>
          <a:stretch>
            <a:fillRect/>
          </a:stretch>
        </p:blipFill>
        <p:spPr>
          <a:xfrm>
            <a:off x="2799925" y="3632454"/>
            <a:ext cx="3876040" cy="2666649"/>
          </a:xfrm>
          <a:prstGeom prst="rect">
            <a:avLst/>
          </a:prstGeom>
        </p:spPr>
      </p:pic>
      <p:sp>
        <p:nvSpPr>
          <p:cNvPr id="6" name="Dikdörtgen 5"/>
          <p:cNvSpPr/>
          <p:nvPr/>
        </p:nvSpPr>
        <p:spPr>
          <a:xfrm>
            <a:off x="491924" y="687738"/>
            <a:ext cx="8321876" cy="2800767"/>
          </a:xfrm>
          <a:prstGeom prst="rect">
            <a:avLst/>
          </a:prstGeom>
        </p:spPr>
        <p:txBody>
          <a:bodyPr wrap="square">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CISPR 25 </a:t>
            </a:r>
            <a:r>
              <a:rPr lang="en-US" sz="1600" dirty="0" err="1">
                <a:solidFill>
                  <a:schemeClr val="bg1"/>
                </a:solidFill>
                <a:latin typeface="Times New Roman" panose="02020603050405020304" pitchFamily="18" charset="0"/>
                <a:cs typeface="Times New Roman" panose="02020603050405020304" pitchFamily="18" charset="0"/>
              </a:rPr>
              <a:t>içinde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tanımlanan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sınıflar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arasında</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Class 3</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otomotiv</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modülleri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için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yaygın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kabul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seviyesidir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BLDC/IPMSM </a:t>
            </a:r>
            <a:r>
              <a:rPr lang="en-US" sz="1600" dirty="0" err="1">
                <a:solidFill>
                  <a:schemeClr val="bg1"/>
                </a:solidFill>
                <a:latin typeface="Times New Roman" panose="02020603050405020304" pitchFamily="18" charset="0"/>
                <a:cs typeface="Times New Roman" panose="02020603050405020304" pitchFamily="18" charset="0"/>
              </a:rPr>
              <a:t>sürücüler</a:t>
            </a:r>
            <a:r>
              <a:rPr lang="en-US" sz="1600" dirty="0">
                <a:solidFill>
                  <a:schemeClr val="bg1"/>
                </a:solidFill>
                <a:latin typeface="Times New Roman" panose="02020603050405020304" pitchFamily="18" charset="0"/>
                <a:cs typeface="Times New Roman" panose="02020603050405020304" pitchFamily="18" charset="0"/>
              </a:rPr>
              <a:t>, DC–DC </a:t>
            </a:r>
            <a:r>
              <a:rPr lang="en-US" sz="1600" dirty="0" err="1">
                <a:solidFill>
                  <a:schemeClr val="bg1"/>
                </a:solidFill>
                <a:latin typeface="Times New Roman" panose="02020603050405020304" pitchFamily="18" charset="0"/>
                <a:cs typeface="Times New Roman" panose="02020603050405020304" pitchFamily="18" charset="0"/>
              </a:rPr>
              <a:t>dönüştürücüler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akıllı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aktüatörler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için</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minimum EMC </a:t>
            </a:r>
            <a:r>
              <a:rPr lang="en-US" sz="1600" b="1" dirty="0" err="1">
                <a:solidFill>
                  <a:schemeClr val="bg1"/>
                </a:solidFill>
                <a:latin typeface="Times New Roman" panose="02020603050405020304" pitchFamily="18" charset="0"/>
                <a:cs typeface="Times New Roman" panose="02020603050405020304" pitchFamily="18" charset="0"/>
              </a:rPr>
              <a:t>uyumluluğu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temsil</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eder</a:t>
            </a:r>
            <a:r>
              <a:rPr lang="en-US" sz="1600" dirty="0">
                <a:solidFill>
                  <a:schemeClr val="bg1"/>
                </a:solidFill>
                <a:latin typeface="Times New Roman" panose="02020603050405020304" pitchFamily="18" charset="0"/>
                <a:cs typeface="Times New Roman" panose="02020603050405020304" pitchFamily="18" charset="0"/>
              </a:rPr>
              <a:t>. Class 3 </a:t>
            </a:r>
            <a:r>
              <a:rPr lang="en-US" sz="1600" dirty="0" err="1">
                <a:solidFill>
                  <a:schemeClr val="bg1"/>
                </a:solidFill>
                <a:latin typeface="Times New Roman" panose="02020603050405020304" pitchFamily="18" charset="0"/>
                <a:cs typeface="Times New Roman" panose="02020603050405020304" pitchFamily="18" charset="0"/>
              </a:rPr>
              <a:t>limitleri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düşük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frekansta</a:t>
            </a:r>
            <a:r>
              <a:rPr lang="en-US" sz="1600" dirty="0">
                <a:solidFill>
                  <a:schemeClr val="bg1"/>
                </a:solidFill>
                <a:latin typeface="Times New Roman" panose="02020603050405020304" pitchFamily="18" charset="0"/>
                <a:cs typeface="Times New Roman" panose="02020603050405020304" pitchFamily="18" charset="0"/>
              </a:rPr>
              <a:t> ~60–70 </a:t>
            </a:r>
            <a:r>
              <a:rPr lang="en-US" sz="1600" dirty="0" err="1">
                <a:solidFill>
                  <a:schemeClr val="bg1"/>
                </a:solidFill>
                <a:latin typeface="Times New Roman" panose="02020603050405020304" pitchFamily="18" charset="0"/>
                <a:cs typeface="Times New Roman" panose="02020603050405020304" pitchFamily="18" charset="0"/>
              </a:rPr>
              <a:t>dBµV</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yüksek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frekansta</a:t>
            </a:r>
            <a:r>
              <a:rPr lang="en-US" sz="1600" dirty="0">
                <a:solidFill>
                  <a:schemeClr val="bg1"/>
                </a:solidFill>
                <a:latin typeface="Times New Roman" panose="02020603050405020304" pitchFamily="18" charset="0"/>
                <a:cs typeface="Times New Roman" panose="02020603050405020304" pitchFamily="18" charset="0"/>
              </a:rPr>
              <a:t> ~30–40 </a:t>
            </a:r>
            <a:r>
              <a:rPr lang="en-US" sz="1600" dirty="0" err="1">
                <a:solidFill>
                  <a:schemeClr val="bg1"/>
                </a:solidFill>
                <a:latin typeface="Times New Roman" panose="02020603050405020304" pitchFamily="18" charset="0"/>
                <a:cs typeface="Times New Roman" panose="02020603050405020304" pitchFamily="18" charset="0"/>
              </a:rPr>
              <a:t>dBµV</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seviyelerinde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olup</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AM/FM </a:t>
            </a:r>
            <a:r>
              <a:rPr lang="en-US" sz="1600" b="1" dirty="0" err="1">
                <a:solidFill>
                  <a:schemeClr val="bg1"/>
                </a:solidFill>
                <a:latin typeface="Times New Roman" panose="02020603050405020304" pitchFamily="18" charset="0"/>
                <a:cs typeface="Times New Roman" panose="02020603050405020304" pitchFamily="18" charset="0"/>
              </a:rPr>
              <a:t>radyo</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bantlarının</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korunmasını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hedefler</a:t>
            </a:r>
            <a:r>
              <a:rPr lang="en-US" sz="1600" dirty="0">
                <a:solidFill>
                  <a:schemeClr val="bg1"/>
                </a:solidFill>
                <a:latin typeface="Times New Roman" panose="02020603050405020304" pitchFamily="18" charset="0"/>
                <a:cs typeface="Times New Roman" panose="02020603050405020304" pitchFamily="18" charset="0"/>
              </a:rPr>
              <a:t>.</a:t>
            </a:r>
          </a:p>
          <a:p>
            <a:pPr algn="just"/>
            <a:r>
              <a:rPr lang="en-US" sz="1600" dirty="0" err="1">
                <a:solidFill>
                  <a:schemeClr val="bg1"/>
                </a:solidFill>
                <a:latin typeface="Times New Roman" panose="02020603050405020304" pitchFamily="18" charset="0"/>
                <a:cs typeface="Times New Roman" panose="02020603050405020304" pitchFamily="18" charset="0"/>
              </a:rPr>
              <a:t>Standart</a:t>
            </a:r>
            <a:r>
              <a:rPr lang="en-US" sz="1600" dirty="0">
                <a:solidFill>
                  <a:schemeClr val="bg1"/>
                </a:solidFill>
                <a:latin typeface="Times New Roman" panose="02020603050405020304" pitchFamily="18" charset="0"/>
                <a:cs typeface="Times New Roman" panose="02020603050405020304" pitchFamily="18" charset="0"/>
              </a:rPr>
              <a:t>; her </a:t>
            </a:r>
            <a:r>
              <a:rPr lang="en-US" sz="1600" dirty="0" err="1">
                <a:solidFill>
                  <a:schemeClr val="bg1"/>
                </a:solidFill>
                <a:latin typeface="Times New Roman" panose="02020603050405020304" pitchFamily="18" charset="0"/>
                <a:cs typeface="Times New Roman" panose="02020603050405020304" pitchFamily="18" charset="0"/>
              </a:rPr>
              <a:t>besleme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hattında</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5 µH </a:t>
            </a:r>
            <a:r>
              <a:rPr lang="en-US" sz="1600" b="1" dirty="0" err="1">
                <a:solidFill>
                  <a:schemeClr val="bg1"/>
                </a:solidFill>
                <a:latin typeface="Times New Roman" panose="02020603050405020304" pitchFamily="18" charset="0"/>
                <a:cs typeface="Times New Roman" panose="02020603050405020304" pitchFamily="18" charset="0"/>
              </a:rPr>
              <a:t>indüktans</a:t>
            </a:r>
            <a:r>
              <a:rPr lang="en-US" sz="1600" b="1" dirty="0">
                <a:solidFill>
                  <a:schemeClr val="bg1"/>
                </a:solidFill>
                <a:latin typeface="Times New Roman" panose="02020603050405020304" pitchFamily="18" charset="0"/>
                <a:cs typeface="Times New Roman" panose="02020603050405020304" pitchFamily="18" charset="0"/>
              </a:rPr>
              <a:t> + 50 </a:t>
            </a:r>
            <a:r>
              <a:rPr lang="el-GR" sz="1600" b="1" dirty="0">
                <a:solidFill>
                  <a:schemeClr val="bg1"/>
                </a:solidFill>
                <a:latin typeface="Times New Roman" panose="02020603050405020304" pitchFamily="18" charset="0"/>
                <a:cs typeface="Times New Roman" panose="02020603050405020304" pitchFamily="18" charset="0"/>
              </a:rPr>
              <a:t>Ω </a:t>
            </a:r>
            <a:r>
              <a:rPr lang="en-US" sz="1600" b="1" dirty="0" err="1">
                <a:solidFill>
                  <a:schemeClr val="bg1"/>
                </a:solidFill>
                <a:latin typeface="Times New Roman" panose="02020603050405020304" pitchFamily="18" charset="0"/>
                <a:cs typeface="Times New Roman" panose="02020603050405020304" pitchFamily="18" charset="0"/>
              </a:rPr>
              <a:t>referans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empedans</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içeren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LISN </a:t>
            </a:r>
            <a:r>
              <a:rPr lang="en-US" sz="1600" dirty="0" err="1">
                <a:solidFill>
                  <a:schemeClr val="bg1"/>
                </a:solidFill>
                <a:latin typeface="Times New Roman" panose="02020603050405020304" pitchFamily="18" charset="0"/>
                <a:cs typeface="Times New Roman" panose="02020603050405020304" pitchFamily="18" charset="0"/>
              </a:rPr>
              <a:t>kullanımını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zorunlu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kılarak</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modülün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oluşturduğu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iletilen</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EMI’nin</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sabit</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ve</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tekrarlanabilir</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bir</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empedans</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üzerinden</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ölçülmesini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sağlar</a:t>
            </a:r>
            <a:r>
              <a:rPr lang="en-US" sz="1600" dirty="0">
                <a:solidFill>
                  <a:schemeClr val="bg1"/>
                </a:solidFill>
                <a:latin typeface="Times New Roman" panose="02020603050405020304" pitchFamily="18" charset="0"/>
                <a:cs typeface="Times New Roman" panose="02020603050405020304" pitchFamily="18" charset="0"/>
              </a:rPr>
              <a:t>.</a:t>
            </a:r>
          </a:p>
          <a:p>
            <a:pPr algn="just"/>
            <a:r>
              <a:rPr lang="en-US" sz="1600" dirty="0">
                <a:solidFill>
                  <a:schemeClr val="bg1"/>
                </a:solidFill>
                <a:latin typeface="Times New Roman" panose="02020603050405020304" pitchFamily="18" charset="0"/>
                <a:cs typeface="Times New Roman" panose="02020603050405020304" pitchFamily="18" charset="0"/>
              </a:rPr>
              <a:t>Bu </a:t>
            </a:r>
            <a:r>
              <a:rPr lang="en-US" sz="1600" dirty="0" err="1">
                <a:solidFill>
                  <a:schemeClr val="bg1"/>
                </a:solidFill>
                <a:latin typeface="Times New Roman" panose="02020603050405020304" pitchFamily="18" charset="0"/>
                <a:cs typeface="Times New Roman" panose="02020603050405020304" pitchFamily="18" charset="0"/>
              </a:rPr>
              <a:t>çalışma</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kapsamında</a:t>
            </a:r>
            <a:r>
              <a:rPr lang="en-US" sz="1600" dirty="0">
                <a:solidFill>
                  <a:schemeClr val="bg1"/>
                </a:solidFill>
                <a:latin typeface="Times New Roman" panose="02020603050405020304" pitchFamily="18" charset="0"/>
                <a:cs typeface="Times New Roman" panose="02020603050405020304" pitchFamily="18" charset="0"/>
              </a:rPr>
              <a:t> hall </a:t>
            </a:r>
            <a:r>
              <a:rPr lang="en-US" sz="1600" dirty="0" err="1">
                <a:solidFill>
                  <a:schemeClr val="bg1"/>
                </a:solidFill>
                <a:latin typeface="Times New Roman" panose="02020603050405020304" pitchFamily="18" charset="0"/>
                <a:cs typeface="Times New Roman" panose="02020603050405020304" pitchFamily="18" charset="0"/>
              </a:rPr>
              <a:t>sensörlü</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bir</a:t>
            </a:r>
            <a:r>
              <a:rPr lang="en-US" sz="1600" dirty="0">
                <a:solidFill>
                  <a:schemeClr val="bg1"/>
                </a:solidFill>
                <a:latin typeface="Times New Roman" panose="02020603050405020304" pitchFamily="18" charset="0"/>
                <a:cs typeface="Times New Roman" panose="02020603050405020304" pitchFamily="18" charset="0"/>
              </a:rPr>
              <a:t> BLDC motor </a:t>
            </a:r>
            <a:r>
              <a:rPr lang="en-US" sz="1600" dirty="0" err="1">
                <a:solidFill>
                  <a:schemeClr val="bg1"/>
                </a:solidFill>
                <a:latin typeface="Times New Roman" panose="02020603050405020304" pitchFamily="18" charset="0"/>
                <a:cs typeface="Times New Roman" panose="02020603050405020304" pitchFamily="18" charset="0"/>
              </a:rPr>
              <a:t>sürücüsü</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LTspice</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ortamında</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modellenmiş</a:t>
            </a:r>
            <a:r>
              <a:rPr lang="en-US" sz="1600" dirty="0">
                <a:solidFill>
                  <a:schemeClr val="bg1"/>
                </a:solidFill>
                <a:latin typeface="Times New Roman" panose="02020603050405020304" pitchFamily="18" charset="0"/>
                <a:cs typeface="Times New Roman" panose="02020603050405020304" pitchFamily="18" charset="0"/>
              </a:rPr>
              <a:t>, LISN </a:t>
            </a:r>
            <a:r>
              <a:rPr lang="en-US" sz="1600" dirty="0" err="1">
                <a:solidFill>
                  <a:schemeClr val="bg1"/>
                </a:solidFill>
                <a:latin typeface="Times New Roman" panose="02020603050405020304" pitchFamily="18" charset="0"/>
                <a:cs typeface="Times New Roman" panose="02020603050405020304" pitchFamily="18" charset="0"/>
              </a:rPr>
              <a:t>yapısı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entegre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edilerek</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CISPR 25 Class 3’e </a:t>
            </a:r>
            <a:r>
              <a:rPr lang="en-US" sz="1600" b="1" dirty="0" err="1">
                <a:solidFill>
                  <a:schemeClr val="bg1"/>
                </a:solidFill>
                <a:latin typeface="Times New Roman" panose="02020603050405020304" pitchFamily="18" charset="0"/>
                <a:cs typeface="Times New Roman" panose="02020603050405020304" pitchFamily="18" charset="0"/>
              </a:rPr>
              <a:t>göre</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iletken</a:t>
            </a:r>
            <a:r>
              <a:rPr lang="en-US" sz="1600" b="1" dirty="0">
                <a:solidFill>
                  <a:schemeClr val="bg1"/>
                </a:solidFill>
                <a:latin typeface="Times New Roman" panose="02020603050405020304" pitchFamily="18" charset="0"/>
                <a:cs typeface="Times New Roman" panose="02020603050405020304" pitchFamily="18" charset="0"/>
              </a:rPr>
              <a:t> </a:t>
            </a:r>
            <a:r>
              <a:rPr lang="en-US" sz="1600" b="1" dirty="0" err="1">
                <a:solidFill>
                  <a:schemeClr val="bg1"/>
                </a:solidFill>
                <a:latin typeface="Times New Roman" panose="02020603050405020304" pitchFamily="18" charset="0"/>
                <a:cs typeface="Times New Roman" panose="02020603050405020304" pitchFamily="18" charset="0"/>
              </a:rPr>
              <a:t>emisyon</a:t>
            </a:r>
            <a:r>
              <a:rPr lang="en-US" sz="1600" b="1" dirty="0">
                <a:solidFill>
                  <a:schemeClr val="bg1"/>
                </a:solidFill>
                <a:latin typeface="Times New Roman" panose="02020603050405020304" pitchFamily="18" charset="0"/>
                <a:cs typeface="Times New Roman" panose="02020603050405020304" pitchFamily="18" charset="0"/>
              </a:rPr>
              <a:t> (CE) </a:t>
            </a:r>
            <a:r>
              <a:rPr lang="en-US" sz="1600" b="1" dirty="0" err="1">
                <a:solidFill>
                  <a:schemeClr val="bg1"/>
                </a:solidFill>
                <a:latin typeface="Times New Roman" panose="02020603050405020304" pitchFamily="18" charset="0"/>
                <a:cs typeface="Times New Roman" panose="02020603050405020304" pitchFamily="18" charset="0"/>
              </a:rPr>
              <a:t>analizi</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gerçekleştirilmiştir</a:t>
            </a:r>
            <a:r>
              <a:rPr lang="en-US" sz="1600" dirty="0">
                <a:solidFill>
                  <a:schemeClr val="bg1"/>
                </a:solidFill>
                <a:latin typeface="Times New Roman" panose="02020603050405020304" pitchFamily="18" charset="0"/>
                <a:cs typeface="Times New Roman" panose="02020603050405020304" pitchFamily="18" charset="0"/>
              </a:rPr>
              <a:t>. CE </a:t>
            </a:r>
            <a:r>
              <a:rPr lang="en-US" sz="1600" dirty="0" err="1">
                <a:solidFill>
                  <a:schemeClr val="bg1"/>
                </a:solidFill>
                <a:latin typeface="Times New Roman" panose="02020603050405020304" pitchFamily="18" charset="0"/>
                <a:cs typeface="Times New Roman" panose="02020603050405020304" pitchFamily="18" charset="0"/>
              </a:rPr>
              <a:t>ölçüm</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yapısı</a:t>
            </a:r>
            <a:r>
              <a:rPr lang="en-US" sz="1600" dirty="0">
                <a:solidFill>
                  <a:schemeClr val="bg1"/>
                </a:solidFill>
                <a:latin typeface="Times New Roman" panose="02020603050405020304" pitchFamily="18" charset="0"/>
                <a:cs typeface="Times New Roman" panose="02020603050405020304" pitchFamily="18" charset="0"/>
              </a:rPr>
              <a:t>, DM/CM </a:t>
            </a:r>
            <a:r>
              <a:rPr lang="en-US" sz="1600" dirty="0" err="1">
                <a:solidFill>
                  <a:schemeClr val="bg1"/>
                </a:solidFill>
                <a:latin typeface="Times New Roman" panose="02020603050405020304" pitchFamily="18" charset="0"/>
                <a:cs typeface="Times New Roman" panose="02020603050405020304" pitchFamily="18" charset="0"/>
              </a:rPr>
              <a:t>filtre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tasarımı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ve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filtre</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öncesi</a:t>
            </a:r>
            <a:r>
              <a:rPr lang="en-US" sz="1600" dirty="0">
                <a:solidFill>
                  <a:schemeClr val="bg1"/>
                </a:solidFill>
                <a:latin typeface="Times New Roman" panose="02020603050405020304" pitchFamily="18" charset="0"/>
                <a:cs typeface="Times New Roman" panose="02020603050405020304" pitchFamily="18" charset="0"/>
              </a:rPr>
              <a:t>–</a:t>
            </a:r>
            <a:r>
              <a:rPr lang="en-US" sz="1600" dirty="0" err="1">
                <a:solidFill>
                  <a:schemeClr val="bg1"/>
                </a:solidFill>
                <a:latin typeface="Times New Roman" panose="02020603050405020304" pitchFamily="18" charset="0"/>
                <a:cs typeface="Times New Roman" panose="02020603050405020304" pitchFamily="18" charset="0"/>
              </a:rPr>
              <a:t>sonrası</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sonuçlar</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karşılaştırılmış</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sürücünün</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ECE R10 </a:t>
            </a:r>
            <a:r>
              <a:rPr lang="en-US" sz="1600" b="1" dirty="0" err="1">
                <a:solidFill>
                  <a:schemeClr val="bg1"/>
                </a:solidFill>
                <a:latin typeface="Times New Roman" panose="02020603050405020304" pitchFamily="18" charset="0"/>
                <a:cs typeface="Times New Roman" panose="02020603050405020304" pitchFamily="18" charset="0"/>
              </a:rPr>
              <a:t>kapsamındaki</a:t>
            </a:r>
            <a:r>
              <a:rPr lang="en-US" sz="1600" b="1" dirty="0">
                <a:solidFill>
                  <a:schemeClr val="bg1"/>
                </a:solidFill>
                <a:latin typeface="Times New Roman" panose="02020603050405020304" pitchFamily="18" charset="0"/>
                <a:cs typeface="Times New Roman" panose="02020603050405020304" pitchFamily="18" charset="0"/>
              </a:rPr>
              <a:t> EMC </a:t>
            </a:r>
            <a:r>
              <a:rPr lang="en-US" sz="1600" b="1" dirty="0" err="1">
                <a:solidFill>
                  <a:schemeClr val="bg1"/>
                </a:solidFill>
                <a:latin typeface="Times New Roman" panose="02020603050405020304" pitchFamily="18" charset="0"/>
                <a:cs typeface="Times New Roman" panose="02020603050405020304" pitchFamily="18" charset="0"/>
              </a:rPr>
              <a:t>uyumluluğu</a:t>
            </a:r>
            <a:r>
              <a:rPr lang="en-US" sz="1600" dirty="0">
                <a:solidFill>
                  <a:schemeClr val="bg1"/>
                </a:solidFill>
                <a:latin typeface="Times New Roman" panose="02020603050405020304" pitchFamily="18" charset="0"/>
                <a:cs typeface="Times New Roman" panose="02020603050405020304" pitchFamily="18" charset="0"/>
              </a:rPr>
              <a:t> </a:t>
            </a:r>
            <a:r>
              <a:rPr lang="en-US" sz="1600" dirty="0" err="1">
                <a:solidFill>
                  <a:schemeClr val="bg1"/>
                </a:solidFill>
                <a:latin typeface="Times New Roman" panose="02020603050405020304" pitchFamily="18" charset="0"/>
                <a:cs typeface="Times New Roman" panose="02020603050405020304" pitchFamily="18" charset="0"/>
              </a:rPr>
              <a:t>değerlendirilmiştir</a:t>
            </a:r>
            <a:r>
              <a:rPr lang="en-US" sz="1600" dirty="0">
                <a:solidFill>
                  <a:schemeClr val="bg1"/>
                </a:solidFill>
                <a:latin typeface="Times New Roman" panose="02020603050405020304" pitchFamily="18" charset="0"/>
                <a:cs typeface="Times New Roman" panose="02020603050405020304" pitchFamily="18" charset="0"/>
              </a:rPr>
              <a:t>.</a:t>
            </a:r>
          </a:p>
        </p:txBody>
      </p:sp>
      <p:sp>
        <p:nvSpPr>
          <p:cNvPr id="7" name="Dikdörtgen 6"/>
          <p:cNvSpPr/>
          <p:nvPr/>
        </p:nvSpPr>
        <p:spPr>
          <a:xfrm>
            <a:off x="1756832" y="6299103"/>
            <a:ext cx="5962227"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BLDC Motor Sürücü Devresinin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LTspice</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Modeli</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1021" y="-9979"/>
            <a:ext cx="8229600" cy="1143000"/>
          </a:xfrm>
        </p:spPr>
        <p:txBody>
          <a:bodyPr>
            <a:normAutofit/>
          </a:bodyPr>
          <a:lstStyle/>
          <a:p>
            <a:pPr>
              <a:defRPr sz="3200">
                <a:solidFill>
                  <a:srgbClr val="FFFFFF"/>
                </a:solidFill>
              </a:defRPr>
            </a:pPr>
            <a:r>
              <a:rPr sz="2400" b="1" dirty="0">
                <a:latin typeface="Times New Roman" panose="02020603050405020304" pitchFamily="18" charset="0"/>
                <a:cs typeface="Times New Roman" panose="02020603050405020304" pitchFamily="18" charset="0"/>
              </a:rPr>
              <a:t>BLDC </a:t>
            </a:r>
            <a:r>
              <a:rPr lang="tr-TR" sz="2400" b="1" dirty="0" smtClean="0">
                <a:latin typeface="Times New Roman" panose="02020603050405020304" pitchFamily="18" charset="0"/>
                <a:cs typeface="Times New Roman" panose="02020603050405020304" pitchFamily="18" charset="0"/>
              </a:rPr>
              <a:t>SÜRÜCÜ MODELİ (24 V – 10 A)</a:t>
            </a:r>
            <a:endParaRPr lang="tr-TR" sz="2400" b="1" dirty="0">
              <a:latin typeface="Times New Roman" panose="02020603050405020304" pitchFamily="18" charset="0"/>
              <a:cs typeface="Times New Roman" panose="02020603050405020304" pitchFamily="18" charset="0"/>
            </a:endParaRPr>
          </a:p>
        </p:txBody>
      </p:sp>
      <p:pic>
        <p:nvPicPr>
          <p:cNvPr id="4" name="Resim 3"/>
          <p:cNvPicPr/>
          <p:nvPr/>
        </p:nvPicPr>
        <p:blipFill>
          <a:blip r:embed="rId2"/>
          <a:stretch>
            <a:fillRect/>
          </a:stretch>
        </p:blipFill>
        <p:spPr>
          <a:xfrm>
            <a:off x="2633133" y="3300248"/>
            <a:ext cx="3750735" cy="2900609"/>
          </a:xfrm>
          <a:prstGeom prst="rect">
            <a:avLst/>
          </a:prstGeom>
        </p:spPr>
      </p:pic>
      <p:sp>
        <p:nvSpPr>
          <p:cNvPr id="5" name="Dikdörtgen 4"/>
          <p:cNvSpPr/>
          <p:nvPr/>
        </p:nvSpPr>
        <p:spPr>
          <a:xfrm>
            <a:off x="675775" y="836689"/>
            <a:ext cx="7950200" cy="2463560"/>
          </a:xfrm>
          <a:prstGeom prst="rect">
            <a:avLst/>
          </a:prstGeom>
        </p:spPr>
        <p:txBody>
          <a:bodyPr wrap="square">
            <a:spAutoFit/>
          </a:bodyPr>
          <a:lstStyle/>
          <a:p>
            <a:pPr algn="just">
              <a:lnSpc>
                <a:spcPct val="107000"/>
              </a:lnSpc>
              <a:spcAft>
                <a:spcPts val="800"/>
              </a:spcAft>
            </a:pP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Bu çalışmada kullanılan BLDC motor sürücü devresi, üç fazlı tam köprü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inverter</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yapısında olup her faz üst ve alt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MOSFET’lerden</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oluşmaktadır. Devre, 24 V DC besleme gerilimi ve yaklaşık 10 A çalışma akımı için tasarlanmış tipik bir otomotiv sınıfı güç katını temsil etmektedir.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MOSFET’ler</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PWM tabanlı olarak 10–20 kHz aralığında sürülmüş, düşük ve yüksek taraf anahtarlar kapalı–açık döngüsünde senkronize edilmiştir. Gerçek uygulamalarda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MOSFET’ler</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hızlı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gate</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sürme sayesinde yüksek dv/</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dt</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üretmekte olup,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gate</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driver</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devrelerinin EMI açısından ciddi etkileri bulunmasına rağmen literatürde birçok çalışmada bu etki genellikle tek cümleyle dahi değinilmeden ihmal edilmektedir. Bu çalışma ise </a:t>
            </a:r>
            <a:r>
              <a:rPr lang="tr-TR" sz="16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gate</a:t>
            </a:r>
            <a:r>
              <a:rPr lang="tr-TR"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sürücünün EMI üzerindeki etkisini de göz önünde bulundurmuştur</a:t>
            </a:r>
            <a:r>
              <a:rPr lang="tr-TR" sz="1600"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endParaRPr lang="en-US"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Dikdörtgen 6"/>
          <p:cNvSpPr/>
          <p:nvPr/>
        </p:nvSpPr>
        <p:spPr>
          <a:xfrm>
            <a:off x="1130300" y="6213453"/>
            <a:ext cx="6756399"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3.</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PWM Sürücü Sinyali ve Trapez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Back</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-EMF Dalga Formları</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200">
                <a:solidFill>
                  <a:srgbClr val="FFFFFF"/>
                </a:solidFill>
              </a:defRPr>
            </a:pPr>
            <a:r>
              <a:rPr sz="2400" b="1" dirty="0">
                <a:latin typeface="Times New Roman" panose="02020603050405020304" pitchFamily="18" charset="0"/>
                <a:cs typeface="Times New Roman" panose="02020603050405020304" pitchFamily="18" charset="0"/>
              </a:rPr>
              <a:t>PWM </a:t>
            </a:r>
            <a:r>
              <a:rPr lang="tr-TR" sz="2400" b="1" dirty="0" smtClean="0">
                <a:latin typeface="Times New Roman" panose="02020603050405020304" pitchFamily="18" charset="0"/>
                <a:cs typeface="Times New Roman" panose="02020603050405020304" pitchFamily="18" charset="0"/>
              </a:rPr>
              <a:t>VE ANAHTARLAMA YAPISI</a:t>
            </a:r>
            <a:endParaRPr sz="2400" b="1" dirty="0">
              <a:latin typeface="Times New Roman" panose="02020603050405020304" pitchFamily="18" charset="0"/>
              <a:cs typeface="Times New Roman" panose="02020603050405020304" pitchFamily="18" charset="0"/>
            </a:endParaRPr>
          </a:p>
        </p:txBody>
      </p:sp>
      <p:pic>
        <p:nvPicPr>
          <p:cNvPr id="4" name="Resim 3"/>
          <p:cNvPicPr/>
          <p:nvPr/>
        </p:nvPicPr>
        <p:blipFill>
          <a:blip r:embed="rId2"/>
          <a:stretch>
            <a:fillRect/>
          </a:stretch>
        </p:blipFill>
        <p:spPr>
          <a:xfrm>
            <a:off x="2815367" y="3864993"/>
            <a:ext cx="3762121" cy="2496930"/>
          </a:xfrm>
          <a:prstGeom prst="rect">
            <a:avLst/>
          </a:prstGeom>
        </p:spPr>
      </p:pic>
      <p:sp>
        <p:nvSpPr>
          <p:cNvPr id="6" name="Dikdörtgen 5"/>
          <p:cNvSpPr/>
          <p:nvPr/>
        </p:nvSpPr>
        <p:spPr>
          <a:xfrm>
            <a:off x="457200" y="1038825"/>
            <a:ext cx="8478456" cy="2800767"/>
          </a:xfrm>
          <a:prstGeom prst="rect">
            <a:avLst/>
          </a:prstGeom>
        </p:spPr>
        <p:txBody>
          <a:bodyPr wrap="square">
            <a:spAutoFit/>
          </a:bodyPr>
          <a:lstStyle/>
          <a:p>
            <a:pPr algn="just"/>
            <a:r>
              <a:rPr lang="tr-TR" sz="1600" dirty="0" err="1">
                <a:solidFill>
                  <a:schemeClr val="bg1"/>
                </a:solidFill>
                <a:latin typeface="Times New Roman" panose="02020603050405020304" pitchFamily="18" charset="0"/>
                <a:ea typeface="Times New Roman" panose="02020603050405020304" pitchFamily="18" charset="0"/>
              </a:rPr>
              <a:t>LTspice</a:t>
            </a:r>
            <a:r>
              <a:rPr lang="tr-TR" sz="1600" dirty="0">
                <a:solidFill>
                  <a:schemeClr val="bg1"/>
                </a:solidFill>
                <a:latin typeface="Times New Roman" panose="02020603050405020304" pitchFamily="18" charset="0"/>
                <a:ea typeface="Times New Roman" panose="02020603050405020304" pitchFamily="18" charset="0"/>
              </a:rPr>
              <a:t> tabanlı EMC analizinde, iletken emisyon ölçümlerinin CISPR 25 standardına uygun şekilde gerçekleştirilebilmesi için test düzeni bir LISN (</a:t>
            </a:r>
            <a:r>
              <a:rPr lang="tr-TR" sz="1600" dirty="0" err="1">
                <a:solidFill>
                  <a:schemeClr val="bg1"/>
                </a:solidFill>
                <a:latin typeface="Times New Roman" panose="02020603050405020304" pitchFamily="18" charset="0"/>
                <a:ea typeface="Times New Roman" panose="02020603050405020304" pitchFamily="18" charset="0"/>
              </a:rPr>
              <a:t>Line</a:t>
            </a:r>
            <a:r>
              <a:rPr lang="tr-TR" sz="1600" dirty="0">
                <a:solidFill>
                  <a:schemeClr val="bg1"/>
                </a:solidFill>
                <a:latin typeface="Times New Roman" panose="02020603050405020304" pitchFamily="18" charset="0"/>
                <a:ea typeface="Times New Roman" panose="02020603050405020304" pitchFamily="18" charset="0"/>
              </a:rPr>
              <a:t> </a:t>
            </a:r>
            <a:r>
              <a:rPr lang="tr-TR" sz="1600" dirty="0" err="1">
                <a:solidFill>
                  <a:schemeClr val="bg1"/>
                </a:solidFill>
                <a:latin typeface="Times New Roman" panose="02020603050405020304" pitchFamily="18" charset="0"/>
                <a:ea typeface="Times New Roman" panose="02020603050405020304" pitchFamily="18" charset="0"/>
              </a:rPr>
              <a:t>Impedance</a:t>
            </a:r>
            <a:r>
              <a:rPr lang="tr-TR" sz="1600" dirty="0">
                <a:solidFill>
                  <a:schemeClr val="bg1"/>
                </a:solidFill>
                <a:latin typeface="Times New Roman" panose="02020603050405020304" pitchFamily="18" charset="0"/>
                <a:ea typeface="Times New Roman" panose="02020603050405020304" pitchFamily="18" charset="0"/>
              </a:rPr>
              <a:t> </a:t>
            </a:r>
            <a:r>
              <a:rPr lang="tr-TR" sz="1600" dirty="0" err="1">
                <a:solidFill>
                  <a:schemeClr val="bg1"/>
                </a:solidFill>
                <a:latin typeface="Times New Roman" panose="02020603050405020304" pitchFamily="18" charset="0"/>
                <a:ea typeface="Times New Roman" panose="02020603050405020304" pitchFamily="18" charset="0"/>
              </a:rPr>
              <a:t>Stabilization</a:t>
            </a:r>
            <a:r>
              <a:rPr lang="tr-TR" sz="1600" dirty="0">
                <a:solidFill>
                  <a:schemeClr val="bg1"/>
                </a:solidFill>
                <a:latin typeface="Times New Roman" panose="02020603050405020304" pitchFamily="18" charset="0"/>
                <a:ea typeface="Times New Roman" panose="02020603050405020304" pitchFamily="18" charset="0"/>
              </a:rPr>
              <a:t> Network) ile oluşturulmuştur. CISPR 25’e göre DC besleme hatlarında kullanılan tipik LISN yapısı, giriş tarafında 5 </a:t>
            </a:r>
            <a:r>
              <a:rPr lang="tr-TR" sz="1600" dirty="0" err="1">
                <a:solidFill>
                  <a:schemeClr val="bg1"/>
                </a:solidFill>
                <a:latin typeface="Times New Roman" panose="02020603050405020304" pitchFamily="18" charset="0"/>
                <a:ea typeface="Times New Roman" panose="02020603050405020304" pitchFamily="18" charset="0"/>
              </a:rPr>
              <a:t>μH</a:t>
            </a:r>
            <a:r>
              <a:rPr lang="tr-TR" sz="1600" dirty="0">
                <a:solidFill>
                  <a:schemeClr val="bg1"/>
                </a:solidFill>
                <a:latin typeface="Times New Roman" panose="02020603050405020304" pitchFamily="18" charset="0"/>
                <a:ea typeface="Times New Roman" panose="02020603050405020304" pitchFamily="18" charset="0"/>
              </a:rPr>
              <a:t> seri </a:t>
            </a:r>
            <a:r>
              <a:rPr lang="tr-TR" sz="1600" dirty="0" err="1">
                <a:solidFill>
                  <a:schemeClr val="bg1"/>
                </a:solidFill>
                <a:latin typeface="Times New Roman" panose="02020603050405020304" pitchFamily="18" charset="0"/>
                <a:ea typeface="Times New Roman" panose="02020603050405020304" pitchFamily="18" charset="0"/>
              </a:rPr>
              <a:t>indüktans</a:t>
            </a:r>
            <a:r>
              <a:rPr lang="tr-TR" sz="1600" dirty="0">
                <a:solidFill>
                  <a:schemeClr val="bg1"/>
                </a:solidFill>
                <a:latin typeface="Times New Roman" panose="02020603050405020304" pitchFamily="18" charset="0"/>
                <a:ea typeface="Times New Roman" panose="02020603050405020304" pitchFamily="18" charset="0"/>
              </a:rPr>
              <a:t> ve ölçüm portunda tanımlanmış 50 Ω referans empedansından oluşur. Bu yapı, yüksek frekanslı gürültü bileşenlerini ölçüm portuna kontrollü şekilde aktarırken aynı zamanda hat empedansını standartlaştırır [9]. Pozitif ve negatif DC besleme hatları için ayrı LISN kullanılması gerekmektedir. Kullanılmayan hat ise 50 Ω ile sonlandırılarak ölçüm </a:t>
            </a:r>
            <a:r>
              <a:rPr lang="tr-TR" sz="1600" dirty="0" err="1">
                <a:solidFill>
                  <a:schemeClr val="bg1"/>
                </a:solidFill>
                <a:latin typeface="Times New Roman" panose="02020603050405020304" pitchFamily="18" charset="0"/>
                <a:ea typeface="Times New Roman" panose="02020603050405020304" pitchFamily="18" charset="0"/>
              </a:rPr>
              <a:t>stabilitesi</a:t>
            </a:r>
            <a:r>
              <a:rPr lang="tr-TR" sz="1600" dirty="0">
                <a:solidFill>
                  <a:schemeClr val="bg1"/>
                </a:solidFill>
                <a:latin typeface="Times New Roman" panose="02020603050405020304" pitchFamily="18" charset="0"/>
                <a:ea typeface="Times New Roman" panose="02020603050405020304" pitchFamily="18" charset="0"/>
              </a:rPr>
              <a:t> korunur [10]. Bu yaklaşım, özellikle CISPR 25 Class 3 değerlendirmesinde 150 kHz–108 MHz bandında hat empedansının yaklaşık 50 </a:t>
            </a:r>
            <a:r>
              <a:rPr lang="tr-TR" sz="1600" dirty="0" err="1">
                <a:solidFill>
                  <a:schemeClr val="bg1"/>
                </a:solidFill>
                <a:latin typeface="Times New Roman" panose="02020603050405020304" pitchFamily="18" charset="0"/>
                <a:ea typeface="Times New Roman" panose="02020603050405020304" pitchFamily="18" charset="0"/>
              </a:rPr>
              <a:t>Ω’da</a:t>
            </a:r>
            <a:r>
              <a:rPr lang="tr-TR" sz="1600" dirty="0">
                <a:solidFill>
                  <a:schemeClr val="bg1"/>
                </a:solidFill>
                <a:latin typeface="Times New Roman" panose="02020603050405020304" pitchFamily="18" charset="0"/>
                <a:ea typeface="Times New Roman" panose="02020603050405020304" pitchFamily="18" charset="0"/>
              </a:rPr>
              <a:t> sabit kalmasını sağlar ve ölçüm doğruluğunu artırır [11]. Simülasyonda batarya DC kaynağı ile BLDC motor sürücüsü arasına LISN modeli yerleştirilmiş olup ilgili LISN yapısı Şekil </a:t>
            </a:r>
            <a:r>
              <a:rPr lang="tr-TR" sz="1600" dirty="0" smtClean="0">
                <a:solidFill>
                  <a:schemeClr val="bg1"/>
                </a:solidFill>
                <a:latin typeface="Times New Roman" panose="02020603050405020304" pitchFamily="18" charset="0"/>
                <a:ea typeface="Times New Roman" panose="02020603050405020304" pitchFamily="18" charset="0"/>
              </a:rPr>
              <a:t>4’te </a:t>
            </a:r>
            <a:r>
              <a:rPr lang="tr-TR" sz="1600" dirty="0">
                <a:solidFill>
                  <a:schemeClr val="bg1"/>
                </a:solidFill>
                <a:latin typeface="Times New Roman" panose="02020603050405020304" pitchFamily="18" charset="0"/>
                <a:ea typeface="Times New Roman" panose="02020603050405020304" pitchFamily="18" charset="0"/>
              </a:rPr>
              <a:t>gösterilmiştir.</a:t>
            </a:r>
            <a:endParaRPr lang="en-US" sz="1600" dirty="0">
              <a:solidFill>
                <a:schemeClr val="bg1"/>
              </a:solidFill>
              <a:effectLst/>
              <a:latin typeface="Times New Roman" panose="02020603050405020304" pitchFamily="18" charset="0"/>
              <a:ea typeface="Times New Roman" panose="02020603050405020304" pitchFamily="18" charset="0"/>
            </a:endParaRPr>
          </a:p>
        </p:txBody>
      </p:sp>
      <p:sp>
        <p:nvSpPr>
          <p:cNvPr id="7" name="Dikdörtgen 6"/>
          <p:cNvSpPr/>
          <p:nvPr/>
        </p:nvSpPr>
        <p:spPr>
          <a:xfrm>
            <a:off x="1934312" y="6392401"/>
            <a:ext cx="5675829"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4.</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DC Hattı İçin LISN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Line</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Impedance</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Stabilization</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Network) Yapısı</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105"/>
            <a:ext cx="8229600" cy="1143000"/>
          </a:xfrm>
        </p:spPr>
        <p:txBody>
          <a:bodyPr>
            <a:normAutofit/>
          </a:bodyPr>
          <a:lstStyle/>
          <a:p>
            <a:pPr>
              <a:defRPr sz="3200">
                <a:solidFill>
                  <a:srgbClr val="FFFFFF"/>
                </a:solidFill>
              </a:defRPr>
            </a:pPr>
            <a:r>
              <a:rPr sz="2400" b="1" dirty="0">
                <a:solidFill>
                  <a:schemeClr val="bg1"/>
                </a:solidFill>
                <a:latin typeface="Times New Roman" panose="02020603050405020304" pitchFamily="18" charset="0"/>
                <a:cs typeface="Times New Roman" panose="02020603050405020304" pitchFamily="18" charset="0"/>
              </a:rPr>
              <a:t>LISN </a:t>
            </a:r>
            <a:r>
              <a:rPr lang="tr-TR" sz="2400" b="1" dirty="0" smtClean="0">
                <a:solidFill>
                  <a:schemeClr val="bg1"/>
                </a:solidFill>
                <a:latin typeface="Times New Roman" panose="02020603050405020304" pitchFamily="18" charset="0"/>
                <a:cs typeface="Times New Roman" panose="02020603050405020304" pitchFamily="18" charset="0"/>
              </a:rPr>
              <a:t>YAPISI</a:t>
            </a:r>
            <a:endParaRPr sz="2400" b="1" dirty="0">
              <a:solidFill>
                <a:schemeClr val="bg1"/>
              </a:solidFill>
              <a:latin typeface="Times New Roman" panose="02020603050405020304" pitchFamily="18" charset="0"/>
              <a:cs typeface="Times New Roman" panose="02020603050405020304" pitchFamily="18" charset="0"/>
            </a:endParaRPr>
          </a:p>
        </p:txBody>
      </p:sp>
      <p:pic>
        <p:nvPicPr>
          <p:cNvPr id="4" name="Resim 3"/>
          <p:cNvPicPr/>
          <p:nvPr/>
        </p:nvPicPr>
        <p:blipFill>
          <a:blip r:embed="rId2"/>
          <a:stretch>
            <a:fillRect/>
          </a:stretch>
        </p:blipFill>
        <p:spPr>
          <a:xfrm>
            <a:off x="1565793" y="2476639"/>
            <a:ext cx="6257195" cy="3085960"/>
          </a:xfrm>
          <a:prstGeom prst="rect">
            <a:avLst/>
          </a:prstGeom>
        </p:spPr>
      </p:pic>
      <p:sp>
        <p:nvSpPr>
          <p:cNvPr id="6" name="Dikdörtgen 5"/>
          <p:cNvSpPr/>
          <p:nvPr/>
        </p:nvSpPr>
        <p:spPr>
          <a:xfrm>
            <a:off x="457200" y="884238"/>
            <a:ext cx="8474383" cy="1323439"/>
          </a:xfrm>
          <a:prstGeom prst="rect">
            <a:avLst/>
          </a:prstGeom>
        </p:spPr>
        <p:txBody>
          <a:bodyPr wrap="square">
            <a:spAutoFit/>
          </a:bodyPr>
          <a:lstStyle/>
          <a:p>
            <a:pPr algn="just"/>
            <a:r>
              <a:rPr lang="tr-TR" sz="1600" dirty="0">
                <a:solidFill>
                  <a:schemeClr val="bg1"/>
                </a:solidFill>
                <a:latin typeface="Times New Roman" panose="02020603050405020304" pitchFamily="18" charset="0"/>
                <a:ea typeface="Calibri" panose="020F0502020204030204" pitchFamily="34" charset="0"/>
              </a:rPr>
              <a:t>Motor modeli olarak üç fazlı, sabit mıknatıslı, odaklı sargı yapısına sahip bir BLDC motor kabul edilmiştir. BLDC motorların karakteristik özelliği, faz-</a:t>
            </a:r>
            <a:r>
              <a:rPr lang="tr-TR" sz="1600" dirty="0" err="1">
                <a:solidFill>
                  <a:schemeClr val="bg1"/>
                </a:solidFill>
                <a:latin typeface="Times New Roman" panose="02020603050405020304" pitchFamily="18" charset="0"/>
                <a:ea typeface="Calibri" panose="020F0502020204030204" pitchFamily="34" charset="0"/>
              </a:rPr>
              <a:t>back</a:t>
            </a:r>
            <a:r>
              <a:rPr lang="tr-TR" sz="1600" dirty="0">
                <a:solidFill>
                  <a:schemeClr val="bg1"/>
                </a:solidFill>
                <a:latin typeface="Times New Roman" panose="02020603050405020304" pitchFamily="18" charset="0"/>
                <a:ea typeface="Calibri" panose="020F0502020204030204" pitchFamily="34" charset="0"/>
              </a:rPr>
              <a:t> EMF dalga formunun 120° elektriksel genişlikte trapez biçiminde olmasıdır. Bu </a:t>
            </a:r>
            <a:r>
              <a:rPr lang="tr-TR" sz="1600" dirty="0" err="1">
                <a:solidFill>
                  <a:schemeClr val="bg1"/>
                </a:solidFill>
                <a:latin typeface="Times New Roman" panose="02020603050405020304" pitchFamily="18" charset="0"/>
                <a:ea typeface="Calibri" panose="020F0502020204030204" pitchFamily="34" charset="0"/>
              </a:rPr>
              <a:t>trapezodial</a:t>
            </a:r>
            <a:r>
              <a:rPr lang="tr-TR" sz="1600" dirty="0">
                <a:solidFill>
                  <a:schemeClr val="bg1"/>
                </a:solidFill>
                <a:latin typeface="Times New Roman" panose="02020603050405020304" pitchFamily="18" charset="0"/>
                <a:ea typeface="Calibri" panose="020F0502020204030204" pitchFamily="34" charset="0"/>
              </a:rPr>
              <a:t> yapı hızlı geçişlere neden olarak iletken </a:t>
            </a:r>
            <a:r>
              <a:rPr lang="tr-TR" sz="1600" dirty="0" err="1">
                <a:solidFill>
                  <a:schemeClr val="bg1"/>
                </a:solidFill>
                <a:latin typeface="Times New Roman" panose="02020603050405020304" pitchFamily="18" charset="0"/>
                <a:ea typeface="Calibri" panose="020F0502020204030204" pitchFamily="34" charset="0"/>
              </a:rPr>
              <a:t>EMI'nin</a:t>
            </a:r>
            <a:r>
              <a:rPr lang="tr-TR" sz="1600" dirty="0">
                <a:solidFill>
                  <a:schemeClr val="bg1"/>
                </a:solidFill>
                <a:latin typeface="Times New Roman" panose="02020603050405020304" pitchFamily="18" charset="0"/>
                <a:ea typeface="Calibri" panose="020F0502020204030204" pitchFamily="34" charset="0"/>
              </a:rPr>
              <a:t> önemli bir kaynağı hâline gelir. Şekil </a:t>
            </a:r>
            <a:r>
              <a:rPr lang="tr-TR" sz="1600" dirty="0" smtClean="0">
                <a:solidFill>
                  <a:schemeClr val="bg1"/>
                </a:solidFill>
                <a:latin typeface="Times New Roman" panose="02020603050405020304" pitchFamily="18" charset="0"/>
                <a:ea typeface="Calibri" panose="020F0502020204030204" pitchFamily="34" charset="0"/>
              </a:rPr>
              <a:t>5’de </a:t>
            </a:r>
            <a:r>
              <a:rPr lang="tr-TR" sz="1600" dirty="0" err="1">
                <a:solidFill>
                  <a:schemeClr val="bg1"/>
                </a:solidFill>
                <a:latin typeface="Times New Roman" panose="02020603050405020304" pitchFamily="18" charset="0"/>
                <a:ea typeface="Calibri" panose="020F0502020204030204" pitchFamily="34" charset="0"/>
              </a:rPr>
              <a:t>LTspice</a:t>
            </a:r>
            <a:r>
              <a:rPr lang="tr-TR" sz="1600" dirty="0">
                <a:solidFill>
                  <a:schemeClr val="bg1"/>
                </a:solidFill>
                <a:latin typeface="Times New Roman" panose="02020603050405020304" pitchFamily="18" charset="0"/>
                <a:ea typeface="Calibri" panose="020F0502020204030204" pitchFamily="34" charset="0"/>
              </a:rPr>
              <a:t> tabanlı modellemede elde edilen PWM sürücü sinyali ve üç fazın trapez </a:t>
            </a:r>
            <a:r>
              <a:rPr lang="tr-TR" sz="1600" dirty="0" err="1">
                <a:solidFill>
                  <a:schemeClr val="bg1"/>
                </a:solidFill>
                <a:latin typeface="Times New Roman" panose="02020603050405020304" pitchFamily="18" charset="0"/>
                <a:ea typeface="Calibri" panose="020F0502020204030204" pitchFamily="34" charset="0"/>
              </a:rPr>
              <a:t>Back</a:t>
            </a:r>
            <a:r>
              <a:rPr lang="tr-TR" sz="1600" dirty="0">
                <a:solidFill>
                  <a:schemeClr val="bg1"/>
                </a:solidFill>
                <a:latin typeface="Times New Roman" panose="02020603050405020304" pitchFamily="18" charset="0"/>
                <a:ea typeface="Calibri" panose="020F0502020204030204" pitchFamily="34" charset="0"/>
              </a:rPr>
              <a:t>-EMF dalga formları </a:t>
            </a:r>
            <a:r>
              <a:rPr lang="tr-TR" sz="1600" dirty="0" smtClean="0">
                <a:solidFill>
                  <a:schemeClr val="bg1"/>
                </a:solidFill>
                <a:latin typeface="Times New Roman" panose="02020603050405020304" pitchFamily="18" charset="0"/>
                <a:ea typeface="Calibri" panose="020F0502020204030204" pitchFamily="34" charset="0"/>
              </a:rPr>
              <a:t>gösterilmektedir.</a:t>
            </a:r>
            <a:endParaRPr lang="en-US" sz="1600" dirty="0">
              <a:solidFill>
                <a:schemeClr val="bg1"/>
              </a:solidFill>
            </a:endParaRPr>
          </a:p>
        </p:txBody>
      </p:sp>
      <p:sp>
        <p:nvSpPr>
          <p:cNvPr id="7" name="Dikdörtgen 6"/>
          <p:cNvSpPr/>
          <p:nvPr/>
        </p:nvSpPr>
        <p:spPr>
          <a:xfrm>
            <a:off x="855134" y="5681858"/>
            <a:ext cx="7552266"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5.</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BLDC Motor Sürücü Devresinin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LTspice</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Modeli LISN ile Ölçüm noktası</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FİLTRE ÖNCESİ CE SPEKTRUMU</a:t>
            </a:r>
            <a:endParaRPr lang="tr-TR" sz="2400" b="1" dirty="0">
              <a:latin typeface="Times New Roman" panose="02020603050405020304" pitchFamily="18" charset="0"/>
              <a:cs typeface="Times New Roman" panose="02020603050405020304" pitchFamily="18" charset="0"/>
            </a:endParaRPr>
          </a:p>
        </p:txBody>
      </p:sp>
      <p:pic>
        <p:nvPicPr>
          <p:cNvPr id="5" name="Resim 4"/>
          <p:cNvPicPr/>
          <p:nvPr/>
        </p:nvPicPr>
        <p:blipFill>
          <a:blip r:embed="rId2"/>
          <a:stretch>
            <a:fillRect/>
          </a:stretch>
        </p:blipFill>
        <p:spPr>
          <a:xfrm>
            <a:off x="1989718" y="2571077"/>
            <a:ext cx="5376230" cy="2905140"/>
          </a:xfrm>
          <a:prstGeom prst="rect">
            <a:avLst/>
          </a:prstGeom>
        </p:spPr>
      </p:pic>
      <p:sp>
        <p:nvSpPr>
          <p:cNvPr id="6" name="Dikdörtgen 5"/>
          <p:cNvSpPr/>
          <p:nvPr/>
        </p:nvSpPr>
        <p:spPr>
          <a:xfrm>
            <a:off x="364066" y="1183861"/>
            <a:ext cx="8525934" cy="1323439"/>
          </a:xfrm>
          <a:prstGeom prst="rect">
            <a:avLst/>
          </a:prstGeom>
        </p:spPr>
        <p:txBody>
          <a:bodyPr wrap="square">
            <a:spAutoFit/>
          </a:bodyPr>
          <a:lstStyle/>
          <a:p>
            <a:pPr algn="just"/>
            <a:r>
              <a:rPr lang="tr-TR" sz="1600" dirty="0">
                <a:solidFill>
                  <a:schemeClr val="bg1"/>
                </a:solidFill>
                <a:latin typeface="Times New Roman" panose="02020603050405020304" pitchFamily="18" charset="0"/>
                <a:ea typeface="Times New Roman" panose="02020603050405020304" pitchFamily="18" charset="0"/>
              </a:rPr>
              <a:t>Filtre uygulanmadan alınan spektrumda, düşük frekanslardan yaklaşık 1 MHz bölgesine kadar giderek azalan geniş bant bir gürültü seviyesi görülmektedir. Bu davranış, motor sürücüsündeki anahtarlama olayları, doğrultma akımları ve DC hatlarındaki hızlı akım değişimlerinin doğal bir sonucudur. Spektrumun yüksek frekans bölgesinde ise sürücü yapısına bağlı olarak belirgin bir rezonans tepe noktası ortaya çıkmaktadır.</a:t>
            </a:r>
            <a:endParaRPr lang="en-US" sz="1600" dirty="0">
              <a:solidFill>
                <a:schemeClr val="bg1"/>
              </a:solidFill>
              <a:effectLst/>
              <a:latin typeface="Times New Roman" panose="02020603050405020304" pitchFamily="18" charset="0"/>
              <a:ea typeface="Times New Roman" panose="02020603050405020304" pitchFamily="18" charset="0"/>
            </a:endParaRPr>
          </a:p>
        </p:txBody>
      </p:sp>
      <p:sp>
        <p:nvSpPr>
          <p:cNvPr id="7" name="Dikdörtgen 6"/>
          <p:cNvSpPr/>
          <p:nvPr/>
        </p:nvSpPr>
        <p:spPr>
          <a:xfrm>
            <a:off x="905933" y="5513327"/>
            <a:ext cx="7543800" cy="311496"/>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6.</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Filtre Uygulanmadan Önce Elde Edilen CE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Conducted</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Emission</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Spektrumu</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9904"/>
            <a:ext cx="8229600" cy="1143000"/>
          </a:xfrm>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FİLTRE SONRASI CE SPEKTRUMU</a:t>
            </a:r>
            <a:endParaRPr sz="2400" b="1" dirty="0">
              <a:latin typeface="Times New Roman" panose="02020603050405020304" pitchFamily="18" charset="0"/>
              <a:cs typeface="Times New Roman" panose="02020603050405020304" pitchFamily="18" charset="0"/>
            </a:endParaRPr>
          </a:p>
        </p:txBody>
      </p:sp>
      <p:pic>
        <p:nvPicPr>
          <p:cNvPr id="5" name="Resim 4"/>
          <p:cNvPicPr/>
          <p:nvPr/>
        </p:nvPicPr>
        <p:blipFill>
          <a:blip r:embed="rId3"/>
          <a:stretch>
            <a:fillRect/>
          </a:stretch>
        </p:blipFill>
        <p:spPr>
          <a:xfrm>
            <a:off x="312997" y="1733376"/>
            <a:ext cx="4732655" cy="2178050"/>
          </a:xfrm>
          <a:prstGeom prst="rect">
            <a:avLst/>
          </a:prstGeom>
        </p:spPr>
      </p:pic>
      <p:sp>
        <p:nvSpPr>
          <p:cNvPr id="6" name="Dikdörtgen 5"/>
          <p:cNvSpPr/>
          <p:nvPr/>
        </p:nvSpPr>
        <p:spPr>
          <a:xfrm>
            <a:off x="5215467" y="1087438"/>
            <a:ext cx="3471333" cy="4770537"/>
          </a:xfrm>
          <a:prstGeom prst="rect">
            <a:avLst/>
          </a:prstGeom>
        </p:spPr>
        <p:txBody>
          <a:bodyPr wrap="square">
            <a:spAutoFit/>
          </a:bodyPr>
          <a:lstStyle/>
          <a:p>
            <a:pPr algn="just"/>
            <a:r>
              <a:rPr lang="tr-TR" sz="1600" dirty="0">
                <a:solidFill>
                  <a:schemeClr val="bg1"/>
                </a:solidFill>
                <a:latin typeface="Times New Roman" panose="02020603050405020304" pitchFamily="18" charset="0"/>
                <a:ea typeface="Times New Roman" panose="02020603050405020304" pitchFamily="18" charset="0"/>
              </a:rPr>
              <a:t>Pi tipi EMI filtresi uygulanmasının ardından geniş bant gürültü seviyelerinde belirgin bir zayıflama gözlenmiştir. Filtre, özellikle 150 kHz–5 MHz bölgesindeki diferansiyel </a:t>
            </a:r>
            <a:r>
              <a:rPr lang="tr-TR" sz="1600" dirty="0" err="1">
                <a:solidFill>
                  <a:schemeClr val="bg1"/>
                </a:solidFill>
                <a:latin typeface="Times New Roman" panose="02020603050405020304" pitchFamily="18" charset="0"/>
                <a:ea typeface="Times New Roman" panose="02020603050405020304" pitchFamily="18" charset="0"/>
              </a:rPr>
              <a:t>mod</a:t>
            </a:r>
            <a:r>
              <a:rPr lang="tr-TR" sz="1600" dirty="0">
                <a:solidFill>
                  <a:schemeClr val="bg1"/>
                </a:solidFill>
                <a:latin typeface="Times New Roman" panose="02020603050405020304" pitchFamily="18" charset="0"/>
                <a:ea typeface="Times New Roman" panose="02020603050405020304" pitchFamily="18" charset="0"/>
              </a:rPr>
              <a:t> bileşenlerinde önemli azalma sağlamıştır. Ayrıca yüksek frekans bandındaki (10–30 MHz bölgesi) rezonans tepe değeri, filtre öncesine kıyasla daha düşük seviyelere çekilmiş ve spektrum genel olarak daha düzensiz fakat daha düşük genlikli hâle gelmiştir. Bu iyileşme, hat filtresinin hem düşük frekans hem de yüksek frekans EMI bileşenleri üzerinde etkili olduğunu göstermektedir. </a:t>
            </a:r>
            <a:r>
              <a:rPr lang="tr-TR" sz="1600" dirty="0" err="1">
                <a:solidFill>
                  <a:schemeClr val="bg1"/>
                </a:solidFill>
                <a:latin typeface="Times New Roman" panose="02020603050405020304" pitchFamily="18" charset="0"/>
                <a:ea typeface="Times New Roman" panose="02020603050405020304" pitchFamily="18" charset="0"/>
              </a:rPr>
              <a:t>LTspice</a:t>
            </a:r>
            <a:r>
              <a:rPr lang="tr-TR" sz="1600" dirty="0">
                <a:solidFill>
                  <a:schemeClr val="bg1"/>
                </a:solidFill>
                <a:latin typeface="Times New Roman" panose="02020603050405020304" pitchFamily="18" charset="0"/>
                <a:ea typeface="Times New Roman" panose="02020603050405020304" pitchFamily="18" charset="0"/>
              </a:rPr>
              <a:t> FFT çıktıları </a:t>
            </a:r>
            <a:r>
              <a:rPr lang="tr-TR" sz="1600" dirty="0" err="1">
                <a:solidFill>
                  <a:schemeClr val="bg1"/>
                </a:solidFill>
                <a:latin typeface="Times New Roman" panose="02020603050405020304" pitchFamily="18" charset="0"/>
                <a:ea typeface="Times New Roman" panose="02020603050405020304" pitchFamily="18" charset="0"/>
              </a:rPr>
              <a:t>dBV</a:t>
            </a:r>
            <a:r>
              <a:rPr lang="tr-TR" sz="1600" dirty="0">
                <a:solidFill>
                  <a:schemeClr val="bg1"/>
                </a:solidFill>
                <a:latin typeface="Times New Roman" panose="02020603050405020304" pitchFamily="18" charset="0"/>
                <a:ea typeface="Times New Roman" panose="02020603050405020304" pitchFamily="18" charset="0"/>
              </a:rPr>
              <a:t> cinsinden olduğundan sonuçlar </a:t>
            </a:r>
            <a:r>
              <a:rPr lang="tr-TR" sz="1600" dirty="0" err="1">
                <a:solidFill>
                  <a:schemeClr val="bg1"/>
                </a:solidFill>
                <a:latin typeface="Times New Roman" panose="02020603050405020304" pitchFamily="18" charset="0"/>
                <a:ea typeface="Times New Roman" panose="02020603050405020304" pitchFamily="18" charset="0"/>
              </a:rPr>
              <a:t>dBµV</a:t>
            </a:r>
            <a:r>
              <a:rPr lang="tr-TR" sz="1600" dirty="0">
                <a:solidFill>
                  <a:schemeClr val="bg1"/>
                </a:solidFill>
                <a:latin typeface="Times New Roman" panose="02020603050405020304" pitchFamily="18" charset="0"/>
                <a:ea typeface="Times New Roman" panose="02020603050405020304" pitchFamily="18" charset="0"/>
              </a:rPr>
              <a:t> seviyesine dönüştürülerek CISPR 25 limitleriyle karşılaştırılmıştır.</a:t>
            </a:r>
            <a:endParaRPr lang="en-US" sz="1600" dirty="0">
              <a:solidFill>
                <a:schemeClr val="bg1"/>
              </a:solidFill>
              <a:effectLst/>
              <a:latin typeface="Times New Roman" panose="02020603050405020304" pitchFamily="18" charset="0"/>
              <a:ea typeface="Times New Roman" panose="02020603050405020304" pitchFamily="18" charset="0"/>
            </a:endParaRPr>
          </a:p>
        </p:txBody>
      </p:sp>
      <p:sp>
        <p:nvSpPr>
          <p:cNvPr id="7" name="Dikdörtgen 6"/>
          <p:cNvSpPr/>
          <p:nvPr/>
        </p:nvSpPr>
        <p:spPr>
          <a:xfrm>
            <a:off x="457200" y="3980695"/>
            <a:ext cx="4572000" cy="553357"/>
          </a:xfrm>
          <a:prstGeom prst="rect">
            <a:avLst/>
          </a:prstGeom>
        </p:spPr>
        <p:txBody>
          <a:bodyPr>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7.</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Bobin ve </a:t>
            </a:r>
            <a:r>
              <a:rPr lang="tr-TR"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Kapasitör</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Eklendikten Sonra CE Spektrumu</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200">
                <a:solidFill>
                  <a:srgbClr val="FFFFFF"/>
                </a:solidFill>
              </a:defRPr>
            </a:pPr>
            <a:r>
              <a:rPr sz="2400" b="1" dirty="0">
                <a:latin typeface="Times New Roman" panose="02020603050405020304" pitchFamily="18" charset="0"/>
                <a:cs typeface="Times New Roman" panose="02020603050405020304" pitchFamily="18" charset="0"/>
              </a:rPr>
              <a:t>CISPR 25 </a:t>
            </a:r>
            <a:r>
              <a:rPr lang="tr-TR" sz="2400" b="1" dirty="0" smtClean="0">
                <a:latin typeface="Times New Roman" panose="02020603050405020304" pitchFamily="18" charset="0"/>
                <a:cs typeface="Times New Roman" panose="02020603050405020304" pitchFamily="18" charset="0"/>
              </a:rPr>
              <a:t>CLASS 3 LİMİT KARŞILAŞTIRMASI</a:t>
            </a:r>
            <a:endParaRPr sz="2400" b="1" dirty="0">
              <a:latin typeface="Times New Roman" panose="02020603050405020304" pitchFamily="18" charset="0"/>
              <a:cs typeface="Times New Roman" panose="02020603050405020304" pitchFamily="18" charset="0"/>
            </a:endParaRPr>
          </a:p>
        </p:txBody>
      </p:sp>
      <p:sp>
        <p:nvSpPr>
          <p:cNvPr id="5" name="Dikdörtgen 4"/>
          <p:cNvSpPr/>
          <p:nvPr/>
        </p:nvSpPr>
        <p:spPr>
          <a:xfrm>
            <a:off x="338023" y="1254369"/>
            <a:ext cx="8484243" cy="1968616"/>
          </a:xfrm>
          <a:prstGeom prst="rect">
            <a:avLst/>
          </a:prstGeom>
        </p:spPr>
        <p:txBody>
          <a:bodyPr wrap="square">
            <a:spAutoFit/>
          </a:bodyPr>
          <a:lstStyle/>
          <a:p>
            <a:pPr algn="just">
              <a:lnSpc>
                <a:spcPct val="107000"/>
              </a:lnSpc>
              <a:spcAft>
                <a:spcPts val="800"/>
              </a:spcAft>
            </a:pPr>
            <a:r>
              <a:rPr lang="tr-TR"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CISPR 25 Kategori 5 Sınır Eğrisi ile Spektrum Analizi </a:t>
            </a:r>
            <a:endParaRPr lang="en-US"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tr-TR" sz="1600" dirty="0">
                <a:solidFill>
                  <a:schemeClr val="bg1"/>
                </a:solidFill>
                <a:latin typeface="Times New Roman" panose="02020603050405020304" pitchFamily="18" charset="0"/>
                <a:ea typeface="Times New Roman" panose="02020603050405020304" pitchFamily="18" charset="0"/>
              </a:rPr>
              <a:t>Simülasyon sonuçları hem filtre uygulanmamış hem de filtre uygulanmış yapı için incelenmiştir. Filtre öncesi durumda geniş bant gürültü seviyeleri çok daha yüksek bir eğri oluştururken, filtrenin uygulanması sonrasında gürültü seviyeleri tüm bantta belirgin şekilde düşmüştür. Spektrumda en belirgin tepe noktası, yüksek frekans bölgesinde (yaklaşık 20–30 MHz civarı) görülmekte olup, bu pik filtre sonrasında anlamlı ölçüde zayıflatılmıştır. Bu iyileşme, sürücünün iletken emisyon performansının CISPR 25 Class 3 sınır gereksinimlerine daha yakın hâle geldiğini göstermektedir.</a:t>
            </a:r>
            <a:endParaRPr lang="en-US" sz="1600" dirty="0">
              <a:solidFill>
                <a:schemeClr val="bg1"/>
              </a:solidFill>
              <a:effectLst/>
              <a:latin typeface="Times New Roman" panose="02020603050405020304" pitchFamily="18" charset="0"/>
              <a:ea typeface="Times New Roman" panose="02020603050405020304" pitchFamily="18" charset="0"/>
            </a:endParaRPr>
          </a:p>
        </p:txBody>
      </p:sp>
      <p:pic>
        <p:nvPicPr>
          <p:cNvPr id="6" name="Resim 5" descr="C:\Users\Lenovo\Downloads\bldc_fft_with_cispr25_class3 (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2810" y="3568303"/>
            <a:ext cx="5574665" cy="2229485"/>
          </a:xfrm>
          <a:prstGeom prst="rect">
            <a:avLst/>
          </a:prstGeom>
          <a:noFill/>
          <a:ln>
            <a:noFill/>
          </a:ln>
        </p:spPr>
      </p:pic>
      <p:sp>
        <p:nvSpPr>
          <p:cNvPr id="7" name="Dikdörtgen 6"/>
          <p:cNvSpPr/>
          <p:nvPr/>
        </p:nvSpPr>
        <p:spPr>
          <a:xfrm>
            <a:off x="1455944" y="5870640"/>
            <a:ext cx="6248400" cy="322845"/>
          </a:xfrm>
          <a:prstGeom prst="rect">
            <a:avLst/>
          </a:prstGeom>
        </p:spPr>
        <p:txBody>
          <a:bodyPr wrap="square">
            <a:spAutoFit/>
          </a:bodyPr>
          <a:lstStyle/>
          <a:p>
            <a:pPr algn="ctr">
              <a:lnSpc>
                <a:spcPct val="107000"/>
              </a:lnSpc>
              <a:spcAft>
                <a:spcPts val="800"/>
              </a:spcAft>
            </a:pPr>
            <a:r>
              <a:rPr lang="tr-TR"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Şekil </a:t>
            </a:r>
            <a:r>
              <a:rPr lang="tr-TR" sz="1400" b="1"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8.</a:t>
            </a:r>
            <a:r>
              <a:rPr lang="tr-TR" sz="1400"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CISPR 25 Class 3 Sınır Eğrisi ile Spektrum Analizi 150KHz-108MHz</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E405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76238"/>
            <a:ext cx="8229600" cy="1143000"/>
          </a:xfrm>
        </p:spPr>
        <p:txBody>
          <a:bodyPr>
            <a:normAutofit/>
          </a:bodyPr>
          <a:lstStyle/>
          <a:p>
            <a:pPr>
              <a:defRPr sz="3200">
                <a:solidFill>
                  <a:srgbClr val="FFFFFF"/>
                </a:solidFill>
              </a:defRPr>
            </a:pPr>
            <a:r>
              <a:rPr lang="tr-TR" sz="2400" b="1" dirty="0" smtClean="0">
                <a:latin typeface="Times New Roman" panose="02020603050405020304" pitchFamily="18" charset="0"/>
                <a:cs typeface="Times New Roman" panose="02020603050405020304" pitchFamily="18" charset="0"/>
              </a:rPr>
              <a:t>SONUÇLA</a:t>
            </a:r>
            <a:r>
              <a:rPr lang="tr-TR" sz="2400" dirty="0" smtClean="0">
                <a:latin typeface="Times New Roman" panose="02020603050405020304" pitchFamily="18" charset="0"/>
                <a:cs typeface="Times New Roman" panose="02020603050405020304" pitchFamily="18" charset="0"/>
              </a:rPr>
              <a:t>R</a:t>
            </a:r>
            <a:endParaRPr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346200"/>
            <a:ext cx="8229600" cy="4525963"/>
          </a:xfrm>
        </p:spPr>
        <p:txBody>
          <a:bodyPr>
            <a:noAutofit/>
          </a:bodyPr>
          <a:lstStyle/>
          <a:p>
            <a:pPr algn="just"/>
            <a:r>
              <a:rPr lang="tr-TR" sz="1600" dirty="0">
                <a:solidFill>
                  <a:schemeClr val="bg1"/>
                </a:solidFill>
                <a:latin typeface="Times New Roman" panose="02020603050405020304" pitchFamily="18" charset="0"/>
                <a:cs typeface="Times New Roman" panose="02020603050405020304" pitchFamily="18" charset="0"/>
              </a:rPr>
              <a:t>Bu çalışmada, ECE R10 kapsamında değerlendirilebilecek 24 V – 10 A seviyesindeki bir BLDC motor sürücüsünün iletken emisyon davranışı </a:t>
            </a:r>
            <a:r>
              <a:rPr lang="tr-TR" sz="1600" dirty="0" err="1">
                <a:solidFill>
                  <a:schemeClr val="bg1"/>
                </a:solidFill>
                <a:latin typeface="Times New Roman" panose="02020603050405020304" pitchFamily="18" charset="0"/>
                <a:cs typeface="Times New Roman" panose="02020603050405020304" pitchFamily="18" charset="0"/>
              </a:rPr>
              <a:t>LTspice</a:t>
            </a:r>
            <a:r>
              <a:rPr lang="tr-TR" sz="1600" dirty="0">
                <a:solidFill>
                  <a:schemeClr val="bg1"/>
                </a:solidFill>
                <a:latin typeface="Times New Roman" panose="02020603050405020304" pitchFamily="18" charset="0"/>
                <a:cs typeface="Times New Roman" panose="02020603050405020304" pitchFamily="18" charset="0"/>
              </a:rPr>
              <a:t> ortamında modellenmiş ve CISPR 25 Class 3 limitlerine göre analiz edilmiştir. Modelleme yapısı içerisinde LISN devresi, PWM tabanlı tam köprü </a:t>
            </a:r>
            <a:r>
              <a:rPr lang="tr-TR" sz="1600" dirty="0" err="1">
                <a:solidFill>
                  <a:schemeClr val="bg1"/>
                </a:solidFill>
                <a:latin typeface="Times New Roman" panose="02020603050405020304" pitchFamily="18" charset="0"/>
                <a:cs typeface="Times New Roman" panose="02020603050405020304" pitchFamily="18" charset="0"/>
              </a:rPr>
              <a:t>inverter</a:t>
            </a:r>
            <a:r>
              <a:rPr lang="tr-TR" sz="1600" dirty="0">
                <a:solidFill>
                  <a:schemeClr val="bg1"/>
                </a:solidFill>
                <a:latin typeface="Times New Roman" panose="02020603050405020304" pitchFamily="18" charset="0"/>
                <a:cs typeface="Times New Roman" panose="02020603050405020304" pitchFamily="18" charset="0"/>
              </a:rPr>
              <a:t> topolojisi, </a:t>
            </a:r>
            <a:r>
              <a:rPr lang="tr-TR" sz="1600" dirty="0" err="1">
                <a:solidFill>
                  <a:schemeClr val="bg1"/>
                </a:solidFill>
                <a:latin typeface="Times New Roman" panose="02020603050405020304" pitchFamily="18" charset="0"/>
                <a:cs typeface="Times New Roman" panose="02020603050405020304" pitchFamily="18" charset="0"/>
              </a:rPr>
              <a:t>gate</a:t>
            </a:r>
            <a:r>
              <a:rPr lang="tr-TR" sz="1600" dirty="0">
                <a:solidFill>
                  <a:schemeClr val="bg1"/>
                </a:solidFill>
                <a:latin typeface="Times New Roman" panose="02020603050405020304" pitchFamily="18" charset="0"/>
                <a:cs typeface="Times New Roman" panose="02020603050405020304" pitchFamily="18" charset="0"/>
              </a:rPr>
              <a:t> </a:t>
            </a:r>
            <a:r>
              <a:rPr lang="tr-TR" sz="1600" dirty="0" err="1">
                <a:solidFill>
                  <a:schemeClr val="bg1"/>
                </a:solidFill>
                <a:latin typeface="Times New Roman" panose="02020603050405020304" pitchFamily="18" charset="0"/>
                <a:cs typeface="Times New Roman" panose="02020603050405020304" pitchFamily="18" charset="0"/>
              </a:rPr>
              <a:t>driver</a:t>
            </a:r>
            <a:r>
              <a:rPr lang="tr-TR" sz="1600" dirty="0">
                <a:solidFill>
                  <a:schemeClr val="bg1"/>
                </a:solidFill>
                <a:latin typeface="Times New Roman" panose="02020603050405020304" pitchFamily="18" charset="0"/>
                <a:cs typeface="Times New Roman" panose="02020603050405020304" pitchFamily="18" charset="0"/>
              </a:rPr>
              <a:t> etkileri ve 120° trapez </a:t>
            </a:r>
            <a:r>
              <a:rPr lang="tr-TR" sz="1600" dirty="0" err="1">
                <a:solidFill>
                  <a:schemeClr val="bg1"/>
                </a:solidFill>
                <a:latin typeface="Times New Roman" panose="02020603050405020304" pitchFamily="18" charset="0"/>
                <a:cs typeface="Times New Roman" panose="02020603050405020304" pitchFamily="18" charset="0"/>
              </a:rPr>
              <a:t>Back</a:t>
            </a:r>
            <a:r>
              <a:rPr lang="tr-TR" sz="1600" dirty="0">
                <a:solidFill>
                  <a:schemeClr val="bg1"/>
                </a:solidFill>
                <a:latin typeface="Times New Roman" panose="02020603050405020304" pitchFamily="18" charset="0"/>
                <a:cs typeface="Times New Roman" panose="02020603050405020304" pitchFamily="18" charset="0"/>
              </a:rPr>
              <a:t>-EMF üreten üç fazlı motor yapısı bir arada ele alınmıştır. Filtre uygulanmayan durumda, özellikle 0.5 MHz – 30 MHz aralığında geniş bant gürültü bileşenleri ve rezonans tepeleri gözlenmiş; EMI filtre yapısının eklenmesiyle hem diferansiyel </a:t>
            </a:r>
            <a:r>
              <a:rPr lang="tr-TR" sz="1600" dirty="0" err="1">
                <a:solidFill>
                  <a:schemeClr val="bg1"/>
                </a:solidFill>
                <a:latin typeface="Times New Roman" panose="02020603050405020304" pitchFamily="18" charset="0"/>
                <a:cs typeface="Times New Roman" panose="02020603050405020304" pitchFamily="18" charset="0"/>
              </a:rPr>
              <a:t>mod</a:t>
            </a:r>
            <a:r>
              <a:rPr lang="tr-TR" sz="1600" dirty="0">
                <a:solidFill>
                  <a:schemeClr val="bg1"/>
                </a:solidFill>
                <a:latin typeface="Times New Roman" panose="02020603050405020304" pitchFamily="18" charset="0"/>
                <a:cs typeface="Times New Roman" panose="02020603050405020304" pitchFamily="18" charset="0"/>
              </a:rPr>
              <a:t> hem de ortak </a:t>
            </a:r>
            <a:r>
              <a:rPr lang="tr-TR" sz="1600" dirty="0" err="1">
                <a:solidFill>
                  <a:schemeClr val="bg1"/>
                </a:solidFill>
                <a:latin typeface="Times New Roman" panose="02020603050405020304" pitchFamily="18" charset="0"/>
                <a:cs typeface="Times New Roman" panose="02020603050405020304" pitchFamily="18" charset="0"/>
              </a:rPr>
              <a:t>mod</a:t>
            </a:r>
            <a:r>
              <a:rPr lang="tr-TR" sz="1600" dirty="0">
                <a:solidFill>
                  <a:schemeClr val="bg1"/>
                </a:solidFill>
                <a:latin typeface="Times New Roman" panose="02020603050405020304" pitchFamily="18" charset="0"/>
                <a:cs typeface="Times New Roman" panose="02020603050405020304" pitchFamily="18" charset="0"/>
              </a:rPr>
              <a:t> gürültü seviyelerinde belirgin düşüş elde edilmiştir. Böylece </a:t>
            </a:r>
            <a:r>
              <a:rPr lang="tr-TR" sz="1600" dirty="0" err="1">
                <a:solidFill>
                  <a:schemeClr val="bg1"/>
                </a:solidFill>
                <a:latin typeface="Times New Roman" panose="02020603050405020304" pitchFamily="18" charset="0"/>
                <a:cs typeface="Times New Roman" panose="02020603050405020304" pitchFamily="18" charset="0"/>
              </a:rPr>
              <a:t>LTspice’ın</a:t>
            </a:r>
            <a:r>
              <a:rPr lang="tr-TR" sz="1600" dirty="0">
                <a:solidFill>
                  <a:schemeClr val="bg1"/>
                </a:solidFill>
                <a:latin typeface="Times New Roman" panose="02020603050405020304" pitchFamily="18" charset="0"/>
                <a:cs typeface="Times New Roman" panose="02020603050405020304" pitchFamily="18" charset="0"/>
              </a:rPr>
              <a:t> tasarımın erken aşamalarında filtre seçimi, geçiş frekansı belirleme ve standart uyumluluk analizlerinde etkili bir mühendislik aracı olduğu doğrulanmıştır.</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tr-TR" sz="1600" dirty="0">
                <a:solidFill>
                  <a:schemeClr val="bg1"/>
                </a:solidFill>
                <a:latin typeface="Times New Roman" panose="02020603050405020304" pitchFamily="18" charset="0"/>
                <a:cs typeface="Times New Roman" panose="02020603050405020304" pitchFamily="18" charset="0"/>
              </a:rPr>
              <a:t>Filtre uygulaması sonrasında elde edilen spektrumun CISPR 25 Class 3 sınırlarının altında kaldığı gösterilmiş ve seçilen filtre topolojisinin otomotiv EMC gerekliliklerini karşılayabildiği sonucuna varılmıştır. Bu yönüyle çalışma, BLDC motor sürücülerinin iletken EMI </a:t>
            </a:r>
            <a:r>
              <a:rPr lang="tr-TR" sz="1600" dirty="0" err="1">
                <a:solidFill>
                  <a:schemeClr val="bg1"/>
                </a:solidFill>
                <a:latin typeface="Times New Roman" panose="02020603050405020304" pitchFamily="18" charset="0"/>
                <a:cs typeface="Times New Roman" panose="02020603050405020304" pitchFamily="18" charset="0"/>
              </a:rPr>
              <a:t>karakterizasyonunda</a:t>
            </a:r>
            <a:r>
              <a:rPr lang="tr-TR" sz="1600" dirty="0">
                <a:solidFill>
                  <a:schemeClr val="bg1"/>
                </a:solidFill>
                <a:latin typeface="Times New Roman" panose="02020603050405020304" pitchFamily="18" charset="0"/>
                <a:cs typeface="Times New Roman" panose="02020603050405020304" pitchFamily="18" charset="0"/>
              </a:rPr>
              <a:t> simülasyon tabanlı yöntemlerin etkinliğini ortaya koymaktadır. Gelecekteki çalışmaların; FOC tabanlı motor sürücü topolojilerinin eklenmesi, </a:t>
            </a:r>
            <a:r>
              <a:rPr lang="tr-TR" sz="1600" dirty="0" err="1">
                <a:solidFill>
                  <a:schemeClr val="bg1"/>
                </a:solidFill>
                <a:latin typeface="Times New Roman" panose="02020603050405020304" pitchFamily="18" charset="0"/>
                <a:cs typeface="Times New Roman" panose="02020603050405020304" pitchFamily="18" charset="0"/>
              </a:rPr>
              <a:t>parasitik</a:t>
            </a:r>
            <a:r>
              <a:rPr lang="tr-TR" sz="1600" dirty="0">
                <a:solidFill>
                  <a:schemeClr val="bg1"/>
                </a:solidFill>
                <a:latin typeface="Times New Roman" panose="02020603050405020304" pitchFamily="18" charset="0"/>
                <a:cs typeface="Times New Roman" panose="02020603050405020304" pitchFamily="18" charset="0"/>
              </a:rPr>
              <a:t> elemanların daha ayrıntılı modellenmesi ve BCI benzetimlerinin dahil edilmesiyle genişletilmesi, hem emisyon hem de bağışıklık performansının bütüncül olarak değerlendirilmesine katkı sağlayacaktır.</a:t>
            </a:r>
            <a:endParaRPr 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54AB95-2B42-ACB7-71E2-7C49A1150B4B}"/>
            </a:ext>
          </a:extLst>
        </p:cNvPr>
        <p:cNvGrpSpPr/>
        <p:nvPr/>
      </p:nvGrpSpPr>
      <p:grpSpPr>
        <a:xfrm>
          <a:off x="0" y="0"/>
          <a:ext cx="0" cy="0"/>
          <a:chOff x="0" y="0"/>
          <a:chExt cx="0" cy="0"/>
        </a:xfrm>
      </p:grpSpPr>
      <p:sp>
        <p:nvSpPr>
          <p:cNvPr id="2" name="Metin kutusu 1">
            <a:extLst>
              <a:ext uri="{FF2B5EF4-FFF2-40B4-BE49-F238E27FC236}">
                <a16:creationId xmlns="" xmlns:a16="http://schemas.microsoft.com/office/drawing/2014/main" id="{DC90FF0B-3A20-244D-03D9-9532218A5D88}"/>
              </a:ext>
            </a:extLst>
          </p:cNvPr>
          <p:cNvSpPr txBox="1"/>
          <p:nvPr/>
        </p:nvSpPr>
        <p:spPr>
          <a:xfrm>
            <a:off x="2535586" y="3194672"/>
            <a:ext cx="4756826" cy="923330"/>
          </a:xfrm>
          <a:prstGeom prst="rect">
            <a:avLst/>
          </a:prstGeom>
          <a:noFill/>
        </p:spPr>
        <p:txBody>
          <a:bodyPr wrap="square">
            <a:spAutoFit/>
          </a:bodyPr>
          <a:lstStyle/>
          <a:p>
            <a:r>
              <a:rPr lang="tr-TR" sz="5400" dirty="0" smtClean="0">
                <a:solidFill>
                  <a:schemeClr val="tx1">
                    <a:lumMod val="65000"/>
                    <a:lumOff val="35000"/>
                  </a:schemeClr>
                </a:solidFill>
                <a:latin typeface="Times New Roman" panose="02020603050405020304" pitchFamily="18" charset="0"/>
                <a:cs typeface="Times New Roman" panose="02020603050405020304" pitchFamily="18" charset="0"/>
              </a:rPr>
              <a:t>Teşekkürler…</a:t>
            </a:r>
            <a:endParaRPr lang="tr-TR" sz="54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cxnSp>
        <p:nvCxnSpPr>
          <p:cNvPr id="3" name="AutoShape 132">
            <a:extLst>
              <a:ext uri="{FF2B5EF4-FFF2-40B4-BE49-F238E27FC236}">
                <a16:creationId xmlns="" xmlns:a16="http://schemas.microsoft.com/office/drawing/2014/main" id="{2B9FCC5B-D316-18C2-AB1E-E3E6ADC18592}"/>
              </a:ext>
            </a:extLst>
          </p:cNvPr>
          <p:cNvCxnSpPr>
            <a:cxnSpLocks noChangeShapeType="1"/>
          </p:cNvCxnSpPr>
          <p:nvPr/>
        </p:nvCxnSpPr>
        <p:spPr bwMode="auto">
          <a:xfrm>
            <a:off x="138620" y="1845280"/>
            <a:ext cx="8849738" cy="0"/>
          </a:xfrm>
          <a:prstGeom prst="straightConnector1">
            <a:avLst/>
          </a:prstGeom>
          <a:noFill/>
          <a:ln w="3810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8398" dir="3806097" algn="ctr" rotWithShape="0">
                    <a:srgbClr val="7F7F7F">
                      <a:alpha val="50000"/>
                    </a:srgbClr>
                  </a:outerShdw>
                </a:effectLst>
              </a14:hiddenEffects>
            </a:ext>
          </a:extLst>
        </p:spPr>
      </p:cxnSp>
      <p:pic>
        <p:nvPicPr>
          <p:cNvPr id="8" name="Resim 7"/>
          <p:cNvPicPr>
            <a:picLocks noChangeAspect="1"/>
          </p:cNvPicPr>
          <p:nvPr/>
        </p:nvPicPr>
        <p:blipFill>
          <a:blip r:embed="rId2"/>
          <a:stretch>
            <a:fillRect/>
          </a:stretch>
        </p:blipFill>
        <p:spPr>
          <a:xfrm>
            <a:off x="315447" y="443350"/>
            <a:ext cx="979953" cy="1276329"/>
          </a:xfrm>
          <a:prstGeom prst="rect">
            <a:avLst/>
          </a:prstGeom>
        </p:spPr>
      </p:pic>
      <p:pic>
        <p:nvPicPr>
          <p:cNvPr id="9" name="Resim 8"/>
          <p:cNvPicPr>
            <a:picLocks noChangeAspect="1"/>
          </p:cNvPicPr>
          <p:nvPr/>
        </p:nvPicPr>
        <p:blipFill>
          <a:blip r:embed="rId3"/>
          <a:stretch>
            <a:fillRect/>
          </a:stretch>
        </p:blipFill>
        <p:spPr>
          <a:xfrm>
            <a:off x="8085668" y="535267"/>
            <a:ext cx="818724" cy="1159858"/>
          </a:xfrm>
          <a:prstGeom prst="rect">
            <a:avLst/>
          </a:prstGeom>
        </p:spPr>
      </p:pic>
      <p:sp>
        <p:nvSpPr>
          <p:cNvPr id="10" name="Dikdörtgen 9"/>
          <p:cNvSpPr/>
          <p:nvPr/>
        </p:nvSpPr>
        <p:spPr>
          <a:xfrm>
            <a:off x="2366253" y="711405"/>
            <a:ext cx="4572000" cy="923330"/>
          </a:xfrm>
          <a:prstGeom prst="rect">
            <a:avLst/>
          </a:prstGeom>
        </p:spPr>
        <p:txBody>
          <a:bodyPr>
            <a:spAutoFit/>
          </a:bodyPr>
          <a:lstStyle/>
          <a:p>
            <a:pPr algn="ctr"/>
            <a:r>
              <a:rPr lang="tr-TR" b="1" dirty="0">
                <a:latin typeface="Times New Roman" panose="02020603050405020304" pitchFamily="18" charset="0"/>
                <a:cs typeface="Times New Roman" panose="02020603050405020304" pitchFamily="18" charset="0"/>
              </a:rPr>
              <a:t>6. BİLSEL INTERNATIONAL ASPENDOS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SCIENTIFIC RESEARCHES</a:t>
            </a:r>
            <a:br>
              <a:rPr lang="tr-TR" b="1" dirty="0">
                <a:latin typeface="Times New Roman" panose="02020603050405020304" pitchFamily="18" charset="0"/>
                <a:cs typeface="Times New Roman" panose="02020603050405020304" pitchFamily="18" charset="0"/>
              </a:rPr>
            </a:br>
            <a:r>
              <a:rPr lang="tr-TR" b="1" dirty="0">
                <a:latin typeface="Times New Roman" panose="02020603050405020304" pitchFamily="18" charset="0"/>
                <a:cs typeface="Times New Roman" panose="02020603050405020304" pitchFamily="18" charset="0"/>
              </a:rPr>
              <a:t>CONGRESS</a:t>
            </a:r>
            <a:endParaRPr lang="en-US" b="1" dirty="0"/>
          </a:p>
        </p:txBody>
      </p:sp>
    </p:spTree>
    <p:extLst>
      <p:ext uri="{BB962C8B-B14F-4D97-AF65-F5344CB8AC3E}">
        <p14:creationId xmlns:p14="http://schemas.microsoft.com/office/powerpoint/2010/main" val="8115955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1198</Words>
  <Application>Microsoft Office PowerPoint</Application>
  <PresentationFormat>Ekran Gösterisi (4:3)</PresentationFormat>
  <Paragraphs>42</Paragraphs>
  <Slides>11</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Times New Roman</vt:lpstr>
      <vt:lpstr>Office Theme</vt:lpstr>
      <vt:lpstr>ECE R10 KAPSAMINDA BLDC MOTOR SÜRÜCÜLERİ İÇİN LTSPICE TABANLI İLETKEN EMİSYON ANALİZİ </vt:lpstr>
      <vt:lpstr>BLDC MOTOR SÜRÜCÜLERİ İÇİN CISPR 25 CLASS 3 CE ANALİZİ</vt:lpstr>
      <vt:lpstr>GİRİŞ</vt:lpstr>
      <vt:lpstr>BLDC SÜRÜCÜ MODELİ (24 V – 10 A)</vt:lpstr>
      <vt:lpstr>PWM VE ANAHTARLAMA YAPISI</vt:lpstr>
      <vt:lpstr>LISN YAPISI</vt:lpstr>
      <vt:lpstr>FİLTRE ÖNCESİ CE SPEKTRUMU</vt:lpstr>
      <vt:lpstr>FİLTRE SONRASI CE SPEKTRUMU</vt:lpstr>
      <vt:lpstr>CISPR 25 CLASS 3 LİMİT KARŞILAŞTIRMASI</vt:lpstr>
      <vt:lpstr>SONUÇLAR</vt:lpstr>
      <vt:lpstr>PowerPoint Sunusu</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TİCARİ ARAÇLARDA 24 V SİSTEMLERDE ISO 7637-2 GEÇİCİ KOŞULLARI ALTINDA OTOMOTİV TİPİ FIRÇALI DC MOTORUN LTSPICE TABANLI ANALİZİ</dc:title>
  <dc:subject/>
  <dc:creator>Lenovo</dc:creator>
  <cp:keywords/>
  <dc:description>generated using python-pptx</dc:description>
  <cp:lastModifiedBy>Lenovo</cp:lastModifiedBy>
  <cp:revision>9</cp:revision>
  <dcterms:created xsi:type="dcterms:W3CDTF">2013-01-27T09:14:16Z</dcterms:created>
  <dcterms:modified xsi:type="dcterms:W3CDTF">2025-11-30T06:52:05Z</dcterms:modified>
  <cp:category/>
</cp:coreProperties>
</file>